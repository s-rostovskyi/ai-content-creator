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/Relationships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1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 Master">
    <p:spTree>
      <p:nvGrpSpPr>
        <p:cNvPr id="1" name="Notes Master"/>
        <p:cNvGrpSpPr/>
        <p:nvPr/>
      </p:nvGrpSpPr>
      <p:grpSpPr/>
    </p:spTree>
  </p:cSld>
  <p:hf dt="0" ftr="0" sldNum="0"/>
  <p:clrMap accent1="accent1" accent2="accent2" accent3="accent3" accent4="accent4" accent5="accent5" hlink="accent2" folHlink="accent4" tx1="dk1" tx2="dk2" bg1="lt1" bg2="lt2"/>
</p:notesMaster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Notes"/>
        <p:cNvGrpSpPr/>
        <p:nvPr/>
      </p:nvGrpSpPr>
      <p:grpSpPr/>
      <p:sp>
        <p:nvSpPr>
          <p:cNvPr id="2" name="Speaker Notes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US" sz="1200" b="0">
                <a:solidFill>
                  <a:srgbClr val="000000"/>
                </a:solidFill>
              </a:rPr>
              <a:t>Slide 1 — 0:45 — Martha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Frame the project as a reviewable company brand generator for three channel formats.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The goal is an English-language Patagonia studio that drafts from curated source material without inventing facts. Introduce Sergii, Sandra and Martha.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Do not present a final RAG status callout as completed unless the evidence pack confirms it.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Notes"/>
        <p:cNvGrpSpPr/>
        <p:nvPr/>
      </p:nvGrpSpPr>
      <p:grpSpPr/>
      <p:sp>
        <p:nvSpPr>
          <p:cNvPr id="2" name="Speaker Notes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US" sz="1200" b="0">
                <a:solidFill>
                  <a:srgbClr val="000000"/>
                </a:solidFill>
              </a:rPr>
              <a:t>Slide 2 — 1:15 — Martha, with Sandra for the KB point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Connect the problem to the project structure: the team needed a small, reviewable content studio with a human approval step.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Foreground the top risk: unsupported or stale claims. The control is primary-source grounding, explicit limitations, peer review and a human approval gate.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Mention that Sergii, Sandra, Martha, the hypothetical Patagonia approver and the instructor sit in Quadrant I, high interest and high influence. Keep Q/T/C visible. Do not claim the app eliminates generic language or guarantees factual safety.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Notes"/>
        <p:cNvGrpSpPr/>
        <p:nvPr/>
      </p:nvGrpSpPr>
      <p:grpSpPr/>
      <p:sp>
        <p:nvSpPr>
          <p:cNvPr id="2" name="Speaker Notes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US" sz="1200" b="0">
                <a:solidFill>
                  <a:srgbClr val="000000"/>
                </a:solidFill>
              </a:rPr>
              <a:t>Slide 3 — 1:30 — Sandra, with Martha for evaluation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Explain the architecture progression. The original small, stable corpus justified deterministic full-context injection. Owner-authorized mutable sources and targeted evidence selection motivate the current RAG direction.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Current confirmed RAG status: OpenAI embeddings, a local SQLite index, hybrid factual-first retrieval and source upload/edit/delete UI with provenance. Sergii performed the real browser verification: one live Instagram RAG draft was manually reviewed and edited, approved and exported.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Defend the direction using three tradeoffs: targeted evidence selection adds retrieval logic; source/version updates add source-management responsibility; context cost and implementation complexity must be measured. Do not claim lower cost, higher accuracy, or complete channel acceptance.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The historical comparison is one qualitative sample per channel, not statistical proof.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Notes"/>
        <p:cNvGrpSpPr/>
        <p:nvPr/>
      </p:nvGrpSpPr>
      <p:grpSpPr/>
      <p:sp>
        <p:nvSpPr>
          <p:cNvPr id="2" name="Speaker Notes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US" sz="1200" b="0">
                <a:solidFill>
                  <a:srgbClr val="000000"/>
                </a:solidFill>
              </a:rPr>
              <a:t>Slide 4 — 2:15 — Sergii for the app, Martha for the review decision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Sergii performs the single live browser generation using the approved demo brief. Do not promise a particular model response.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Point out channel copy, separate reviewer notes and preserved retrieval provenance. Show the human gate: manual edit, approval of the exact current revision, then Markdown/JSON export.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If the API fails, use the saved verified artifact. Do not make extra live calls for LinkedIn or email.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Read the exact matched excerpts aloud and label the experiment “Without supplied sources vs full-context injection — historical non-RAG comparison.” Do not call it a RAG benchmark or a comparison with the ChatGPT product.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The preserved format observations are one qualitative sample per channel: Instagram 70 vs 81 words, LinkedIn generic 116 below minimum vs contextual 135 OK, and email generic 107 vs contextual 133 under the clarification convention. Do not add scores.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Notes"/>
        <p:cNvGrpSpPr/>
        <p:nvPr/>
      </p:nvGrpSpPr>
      <p:grpSpPr/>
      <p:sp>
        <p:nvSpPr>
          <p:cNvPr id="2" name="Speaker Notes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US" sz="1200" b="0">
                <a:solidFill>
                  <a:srgbClr val="000000"/>
                </a:solidFill>
              </a:rPr>
              <a:t>Slide 5 — 1:15 — Martha, with Sandra and Sergii available for questions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Contrast the board checkpoints. Day 1 evidence includes the actual Kanban screenshot and supplementary Definition of Done screenshot. The actual Day 2 board screenshot remains pending.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Explain the WBS-to-Trello bridge: each WBS leaf became a card with owner, reviewer, Must IDs, dependencies and verification. Card 6.2 owns the final docs, demo and presentation.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Mention the lessons: start with a bounded corpus, add retrieval when mutable sources and targeted evidence selection justify the complexity, keep reviewer reasoning visible, protect the demo path with WIP=2, and treat comparison artifacts as evidence with explicit limits.</a:t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/>
            </a:r>
            <a:endParaRPr lang="en-US"/>
          </a:p>
          <a:p>
            <a:r>
              <a:rPr lang="en-US" sz="1200" b="0">
                <a:solidFill>
                  <a:srgbClr val="000000"/>
                </a:solidFill>
              </a:rPr>
              <a:t>State the evidence boundary clearly: Sergii’s one verified Instagram RAG path is real and specific. Other-channel RAG acceptance, live RAG revision and final deployment are not established. Martha read agents.md before this revision and kept the change to presentation artifacts only.</a:t>
            </a:r>
          </a:p>
        </p:txBody>
      </p:sp>
    </p:spTree>
  </p:cSld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Layout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Master"/>
        <p:cNvGrpSpPr/>
        <p:nvPr/>
      </p:nvGrpSpPr>
      <p:grpSpPr/>
    </p:spTree>
  </p:cSld>
  <p:clrMap bg1="lt1" tx1="dk1" bg2="lt2" tx2="dk2" accent1="accent1" accent2="accent2" accent3="accent3" accent4="accent4" accent5="accent5" hlink="accent2" folHlink="accent4"/>
  <p:sldLayoutIdLst>
    <p:sldLayoutId id="1" r:id="rId1"/>
  </p:sldLayoutId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9" Type="http://schemas.openxmlformats.org/officeDocument/2006/relationships/notesSlide" Target="../notesSlides/notesSlide1.xml" /><Relationship Id="rId2" Type="http://schemas.openxmlformats.org/officeDocument/2006/relationships/image" Target="../media/outdoor.png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9" Type="http://schemas.openxmlformats.org/officeDocument/2006/relationships/notesSlide" Target="../notesSlides/notesSlide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9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9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9" Type="http://schemas.openxmlformats.org/officeDocument/2006/relationships/notesSlide" Target="../notesSlides/notesSlide5.xml" /><Relationship Id="rId2" Type="http://schemas.openxmlformats.org/officeDocument/2006/relationships/image" Target="../media/kanban.png" /><Relationship Id="rId3" Type="http://schemas.openxmlformats.org/officeDocument/2006/relationships/image" Target="../media/dod.png" /></Relationships>
</file>

<file path=ppt/slides/slide1.xml><?xml version="1.0" encoding="utf-8"?>
<p:sld xmlns:ns0="http://schemas.openxmlformats.org/officeDocument/2006/relationships"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0000">
            <a:noFill/>
          </a:ln>
        </p:spPr>
      </p:sp>
      <p:sp>
        <p:nvSpPr>
          <p:cNvPr id="104" name="kicker"/>
          <p:cNvSpPr/>
          <p:nvPr/>
        </p:nvSpPr>
        <p:spPr>
          <a:xfrm>
            <a:off x="533399" y="279400"/>
            <a:ext cx="88899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900" b="1">
                <a:solidFill>
                  <a:srgbClr val="5EEAD4"/>
                </a:solidFill>
              </a:rPr>
              <a:t>FINAL PRESENTATION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0985499" cy="533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2500" b="1">
                <a:solidFill>
                  <a:srgbClr val="F8FAFC"/>
                </a:solidFill>
              </a:rPr>
              <a:t>Patagonia Content Studio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0985499" cy="330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A8B5C7"/>
                </a:solidFill>
              </a:rPr>
              <a:t>A grounded generator for Instagram, LinkedIn and email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65199" cy="50800"/>
          </a:xfrm>
          <a:prstGeom prst="rect">
            <a:avLst/>
          </a:prstGeom>
          <a:solidFill>
            <a:srgbClr val="5EEAD4"/>
          </a:solidFill>
          <a:ln w="10000">
            <a:noFill/>
          </a:ln>
        </p:spPr>
      </p:sp>
      <p:sp>
        <p:nvSpPr>
          <p:cNvPr id="108" name="timing"/>
          <p:cNvSpPr/>
          <p:nvPr/>
        </p:nvSpPr>
        <p:spPr>
          <a:xfrm>
            <a:off x="10413999" y="279400"/>
            <a:ext cx="12445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900" b="1">
                <a:solidFill>
                  <a:srgbClr val="FBBF24"/>
                </a:solidFill>
              </a:rPr>
              <a:t>0:45</a:t>
            </a:r>
          </a:p>
        </p:txBody>
      </p:sp>
      <p:sp>
        <p:nvSpPr>
          <p:cNvPr id="109" name="footer"/>
          <p:cNvSpPr/>
          <p:nvPr/>
        </p:nvSpPr>
        <p:spPr>
          <a:xfrm>
            <a:off x="533399" y="6477000"/>
            <a:ext cx="9651999" cy="152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800" b="0">
                <a:solidFill>
                  <a:srgbClr val="A8B5C7"/>
                </a:solidFill>
              </a:rPr>
              <a:t>Patagonia Content Studio  |  Card 6.2  |  M7 + M8</a:t>
            </a:r>
          </a:p>
        </p:txBody>
      </p:sp>
      <p:sp>
        <p:nvSpPr>
          <p:cNvPr id="110" name="number"/>
          <p:cNvSpPr/>
          <p:nvPr/>
        </p:nvSpPr>
        <p:spPr>
          <a:xfrm>
            <a:off x="11302999" y="6477000"/>
            <a:ext cx="355599" cy="152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01</a:t>
            </a:r>
          </a:p>
        </p:txBody>
      </p:sp>
      <p:pic>
        <p:nvPicPr>
          <p:cNvPr id="911" name="outdoor header"/>
          <p:cNvPicPr/>
          <p:nvPr/>
        </p:nvPicPr>
        <p:blipFill>
          <a:blip ns0:embed="rId2"/>
          <a:stretch>
            <a:fillRect/>
          </a:stretch>
        </p:blipFill>
        <p:spPr>
          <a:xfrm>
            <a:off x="7111999" y="1841500"/>
            <a:ext cx="4571999" cy="3619500"/>
          </a:xfrm>
          <a:prstGeom prst="rect">
            <a:avLst/>
          </a:prstGeom>
        </p:spPr>
      </p:pic>
      <p:sp>
        <p:nvSpPr>
          <p:cNvPr id="112" name="hero wash"/>
          <p:cNvSpPr/>
          <p:nvPr/>
        </p:nvSpPr>
        <p:spPr>
          <a:xfrm>
            <a:off x="7111999" y="1841500"/>
            <a:ext cx="4571999" cy="3619500"/>
          </a:xfrm>
          <a:prstGeom prst="rect">
            <a:avLst/>
          </a:prstGeom>
          <a:solidFill>
            <a:srgbClr val="081018"/>
          </a:solidFill>
          <a:ln w="10000">
            <a:noFill/>
          </a:ln>
        </p:spPr>
      </p:sp>
      <p:sp>
        <p:nvSpPr>
          <p:cNvPr id="113" name="hero label"/>
          <p:cNvSpPr/>
          <p:nvPr/>
        </p:nvSpPr>
        <p:spPr>
          <a:xfrm>
            <a:off x="7492999" y="2260599"/>
            <a:ext cx="3682999" cy="279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200" b="1">
                <a:solidFill>
                  <a:srgbClr val="5EEAD4"/>
                </a:solidFill>
              </a:rPr>
              <a:t>BRIEF  →  GROUND  →  DRAFT  →  REVIEW</a:t>
            </a:r>
          </a:p>
        </p:txBody>
      </p:sp>
      <p:sp>
        <p:nvSpPr>
          <p:cNvPr id="114" name="hero copy"/>
          <p:cNvSpPr/>
          <p:nvPr/>
        </p:nvSpPr>
        <p:spPr>
          <a:xfrm>
            <a:off x="7492999" y="2997200"/>
            <a:ext cx="3555999" cy="13970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2000" b="1">
                <a:solidFill>
                  <a:srgbClr val="F8FAFC"/>
                </a:solidFill>
              </a:rPr>
              <a:t>Specific enough to verify.</a:t>
            </a:r>
            <a:endParaRPr lang="en-US"/>
          </a:p>
          <a:p>
            <a:r>
              <a:rPr lang="en-US" sz="2000" b="1">
                <a:solidFill>
                  <a:srgbClr val="F8FAFC"/>
                </a:solidFill>
              </a:rPr>
              <a:t>Structured enough to review.</a:t>
            </a:r>
            <a:endParaRPr lang="en-US"/>
          </a:p>
          <a:p>
            <a:r>
              <a:rPr lang="en-US" sz="2000" b="1">
                <a:solidFill>
                  <a:srgbClr val="F8FAFC"/>
                </a:solidFill>
              </a:rPr>
              <a:t>Human approval before export.</a:t>
            </a:r>
          </a:p>
        </p:txBody>
      </p:sp>
      <p:sp>
        <p:nvSpPr>
          <p:cNvPr id="115" name="team"/>
          <p:cNvSpPr/>
          <p:nvPr/>
        </p:nvSpPr>
        <p:spPr>
          <a:xfrm>
            <a:off x="533399" y="4699000"/>
            <a:ext cx="58419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200" b="1">
                <a:solidFill>
                  <a:srgbClr val="FBBF24"/>
                </a:solidFill>
              </a:rPr>
              <a:t>Sergii Rostovskyi  ·  Sandra Obregon  ·  Martha Olukayode</a:t>
            </a:r>
          </a:p>
        </p:txBody>
      </p:sp>
      <p:sp>
        <p:nvSpPr>
          <p:cNvPr id="116" name="scope"/>
          <p:cNvSpPr/>
          <p:nvPr/>
        </p:nvSpPr>
        <p:spPr>
          <a:xfrm>
            <a:off x="533399" y="5283200"/>
            <a:ext cx="6095999" cy="4826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F8FAFC"/>
                </a:solidFill>
              </a:rPr>
              <a:t>English-language Patagonia content studio prototype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Product scope: Men's Nano Puff Jacket, style 84212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0000">
            <a:noFill/>
          </a:ln>
        </p:spPr>
      </p:sp>
      <p:sp>
        <p:nvSpPr>
          <p:cNvPr id="104" name="kicker"/>
          <p:cNvSpPr/>
          <p:nvPr/>
        </p:nvSpPr>
        <p:spPr>
          <a:xfrm>
            <a:off x="533399" y="279400"/>
            <a:ext cx="88899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900" b="1">
                <a:solidFill>
                  <a:srgbClr val="5EEAD4"/>
                </a:solidFill>
              </a:rPr>
              <a:t>01 / PROBLEM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0985499" cy="533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2500" b="1">
                <a:solidFill>
                  <a:srgbClr val="F8FAFC"/>
                </a:solidFill>
              </a:rPr>
              <a:t>The content problem has two failure modes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0985499" cy="330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A8B5C7"/>
                </a:solidFill>
              </a:rPr>
              <a:t>A small, reviewable workflow keeps fluency from outrunning evidence.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65199" cy="50800"/>
          </a:xfrm>
          <a:prstGeom prst="rect">
            <a:avLst/>
          </a:prstGeom>
          <a:solidFill>
            <a:srgbClr val="5EEAD4"/>
          </a:solidFill>
          <a:ln w="10000">
            <a:noFill/>
          </a:ln>
        </p:spPr>
      </p:sp>
      <p:sp>
        <p:nvSpPr>
          <p:cNvPr id="108" name="timing"/>
          <p:cNvSpPr/>
          <p:nvPr/>
        </p:nvSpPr>
        <p:spPr>
          <a:xfrm>
            <a:off x="10413999" y="279400"/>
            <a:ext cx="12445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900" b="1">
                <a:solidFill>
                  <a:srgbClr val="FBBF24"/>
                </a:solidFill>
              </a:rPr>
              <a:t>1:15</a:t>
            </a:r>
          </a:p>
        </p:txBody>
      </p:sp>
      <p:sp>
        <p:nvSpPr>
          <p:cNvPr id="109" name="footer"/>
          <p:cNvSpPr/>
          <p:nvPr/>
        </p:nvSpPr>
        <p:spPr>
          <a:xfrm>
            <a:off x="533399" y="6477000"/>
            <a:ext cx="9651999" cy="152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800" b="0">
                <a:solidFill>
                  <a:srgbClr val="A8B5C7"/>
                </a:solidFill>
              </a:rPr>
              <a:t>Patagonia Content Studio  |  Card 6.2  |  M7 + M8</a:t>
            </a:r>
          </a:p>
        </p:txBody>
      </p:sp>
      <p:sp>
        <p:nvSpPr>
          <p:cNvPr id="110" name="number"/>
          <p:cNvSpPr/>
          <p:nvPr/>
        </p:nvSpPr>
        <p:spPr>
          <a:xfrm>
            <a:off x="11302999" y="6477000"/>
            <a:ext cx="355599" cy="152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02</a:t>
            </a:r>
          </a:p>
        </p:txBody>
      </p:sp>
      <p:sp>
        <p:nvSpPr>
          <p:cNvPr id="111" name="GENERIC COPY"/>
          <p:cNvSpPr/>
          <p:nvPr/>
        </p:nvSpPr>
        <p:spPr>
          <a:xfrm>
            <a:off x="533399" y="1905000"/>
            <a:ext cx="3428999" cy="19050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12" name="GENERIC COPY head"/>
          <p:cNvSpPr/>
          <p:nvPr/>
        </p:nvSpPr>
        <p:spPr>
          <a:xfrm>
            <a:off x="685799" y="2032000"/>
            <a:ext cx="3124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FB7185"/>
                </a:solidFill>
              </a:rPr>
              <a:t>GENERIC COPY</a:t>
            </a:r>
          </a:p>
        </p:txBody>
      </p:sp>
      <p:sp>
        <p:nvSpPr>
          <p:cNvPr id="113" name="GENERIC COPY body"/>
          <p:cNvSpPr/>
          <p:nvPr/>
        </p:nvSpPr>
        <p:spPr>
          <a:xfrm>
            <a:off x="685799" y="2413000"/>
            <a:ext cx="3124199" cy="12700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F8FAFC"/>
                </a:solidFill>
              </a:rPr>
              <a:t>Broad language sounds interchangeable.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Reviewers have little to verify.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Specific product detail gets lost.</a:t>
            </a:r>
          </a:p>
        </p:txBody>
      </p:sp>
      <p:sp>
        <p:nvSpPr>
          <p:cNvPr id="114" name="GROUNDING RISK"/>
          <p:cNvSpPr/>
          <p:nvPr/>
        </p:nvSpPr>
        <p:spPr>
          <a:xfrm>
            <a:off x="4190999" y="1905000"/>
            <a:ext cx="3428999" cy="19050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15" name="GROUNDING RISK head"/>
          <p:cNvSpPr/>
          <p:nvPr/>
        </p:nvSpPr>
        <p:spPr>
          <a:xfrm>
            <a:off x="4343399" y="2032000"/>
            <a:ext cx="3124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FBBF24"/>
                </a:solidFill>
              </a:rPr>
              <a:t>GROUNDING RISK</a:t>
            </a:r>
          </a:p>
        </p:txBody>
      </p:sp>
      <p:sp>
        <p:nvSpPr>
          <p:cNvPr id="116" name="GROUNDING RISK body"/>
          <p:cNvSpPr/>
          <p:nvPr/>
        </p:nvSpPr>
        <p:spPr>
          <a:xfrm>
            <a:off x="4343399" y="2413000"/>
            <a:ext cx="3124199" cy="12700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F8FAFC"/>
                </a:solidFill>
              </a:rPr>
              <a:t>Fast generation can blur: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• product facts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• secondary context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• editorial interpretation</a:t>
            </a:r>
          </a:p>
        </p:txBody>
      </p:sp>
      <p:sp>
        <p:nvSpPr>
          <p:cNvPr id="117" name="CHANNEL FIT"/>
          <p:cNvSpPr/>
          <p:nvPr/>
        </p:nvSpPr>
        <p:spPr>
          <a:xfrm>
            <a:off x="7848599" y="1905000"/>
            <a:ext cx="3809999" cy="19050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18" name="CHANNEL FIT head"/>
          <p:cNvSpPr/>
          <p:nvPr/>
        </p:nvSpPr>
        <p:spPr>
          <a:xfrm>
            <a:off x="8000999" y="2032000"/>
            <a:ext cx="3505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60A5FA"/>
                </a:solidFill>
              </a:rPr>
              <a:t>CHANNEL FIT</a:t>
            </a:r>
          </a:p>
        </p:txBody>
      </p:sp>
      <p:sp>
        <p:nvSpPr>
          <p:cNvPr id="119" name="CHANNEL FIT body"/>
          <p:cNvSpPr/>
          <p:nvPr/>
        </p:nvSpPr>
        <p:spPr>
          <a:xfrm>
            <a:off x="8000999" y="2413000"/>
            <a:ext cx="3505199" cy="12700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F8FAFC"/>
                </a:solidFill>
              </a:rPr>
              <a:t>Instagram, LinkedIn and email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need different shapes, limits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and calls to action.</a:t>
            </a:r>
          </a:p>
        </p:txBody>
      </p:sp>
      <p:sp>
        <p:nvSpPr>
          <p:cNvPr id="120" name="qtc label"/>
          <p:cNvSpPr/>
          <p:nvPr/>
        </p:nvSpPr>
        <p:spPr>
          <a:xfrm>
            <a:off x="533399" y="4191000"/>
            <a:ext cx="1269999" cy="2540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5EEAD4"/>
                </a:solidFill>
              </a:rPr>
              <a:t>Q / T / C</a:t>
            </a:r>
          </a:p>
        </p:txBody>
      </p:sp>
      <p:sp>
        <p:nvSpPr>
          <p:cNvPr id="121" name="QUALITY"/>
          <p:cNvSpPr/>
          <p:nvPr/>
        </p:nvSpPr>
        <p:spPr>
          <a:xfrm>
            <a:off x="533399" y="4521199"/>
            <a:ext cx="3428999" cy="14224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22" name="QUALITY head"/>
          <p:cNvSpPr/>
          <p:nvPr/>
        </p:nvSpPr>
        <p:spPr>
          <a:xfrm>
            <a:off x="685799" y="4648200"/>
            <a:ext cx="3124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5EEAD4"/>
                </a:solidFill>
              </a:rPr>
              <a:t>QUALITY</a:t>
            </a:r>
          </a:p>
        </p:txBody>
      </p:sp>
      <p:sp>
        <p:nvSpPr>
          <p:cNvPr id="123" name="QUALITY body"/>
          <p:cNvSpPr/>
          <p:nvPr/>
        </p:nvSpPr>
        <p:spPr>
          <a:xfrm>
            <a:off x="685799" y="5029200"/>
            <a:ext cx="3124199" cy="787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Grounded claims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Channel fit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Traceable review notes</a:t>
            </a:r>
          </a:p>
        </p:txBody>
      </p:sp>
      <p:sp>
        <p:nvSpPr>
          <p:cNvPr id="124" name="TIME"/>
          <p:cNvSpPr/>
          <p:nvPr/>
        </p:nvSpPr>
        <p:spPr>
          <a:xfrm>
            <a:off x="4190999" y="4521199"/>
            <a:ext cx="3428999" cy="14224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25" name="TIME head"/>
          <p:cNvSpPr/>
          <p:nvPr/>
        </p:nvSpPr>
        <p:spPr>
          <a:xfrm>
            <a:off x="4343399" y="4648200"/>
            <a:ext cx="3124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60A5FA"/>
                </a:solidFill>
              </a:rPr>
              <a:t>TIME</a:t>
            </a:r>
          </a:p>
        </p:txBody>
      </p:sp>
      <p:sp>
        <p:nvSpPr>
          <p:cNvPr id="126" name="TIME body"/>
          <p:cNvSpPr/>
          <p:nvPr/>
        </p:nvSpPr>
        <p:spPr>
          <a:xfrm>
            <a:off x="4343399" y="5029200"/>
            <a:ext cx="3124199" cy="787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End-to-end demo by Day 2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WIP capped at 2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Protect the demo path</a:t>
            </a:r>
          </a:p>
        </p:txBody>
      </p:sp>
      <p:sp>
        <p:nvSpPr>
          <p:cNvPr id="127" name="COST"/>
          <p:cNvSpPr/>
          <p:nvPr/>
        </p:nvSpPr>
        <p:spPr>
          <a:xfrm>
            <a:off x="7848599" y="4521199"/>
            <a:ext cx="3809999" cy="14224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28" name="COST head"/>
          <p:cNvSpPr/>
          <p:nvPr/>
        </p:nvSpPr>
        <p:spPr>
          <a:xfrm>
            <a:off x="8000999" y="4648200"/>
            <a:ext cx="3505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FBBF24"/>
                </a:solidFill>
              </a:rPr>
              <a:t>COST</a:t>
            </a:r>
          </a:p>
        </p:txBody>
      </p:sp>
      <p:sp>
        <p:nvSpPr>
          <p:cNvPr id="129" name="COST body"/>
          <p:cNvSpPr/>
          <p:nvPr/>
        </p:nvSpPr>
        <p:spPr>
          <a:xfrm>
            <a:off x="8000999" y="5029200"/>
            <a:ext cx="3505199" cy="787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Configurable model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Bounded generation / revision calls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Agreed team budget: USD 5</a:t>
            </a:r>
          </a:p>
        </p:txBody>
      </p:sp>
      <p:sp>
        <p:nvSpPr>
          <p:cNvPr id="130" name="risk"/>
          <p:cNvSpPr/>
          <p:nvPr/>
        </p:nvSpPr>
        <p:spPr>
          <a:xfrm>
            <a:off x="533399" y="6045200"/>
            <a:ext cx="11125199" cy="3048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  <p:txBody>
          <a:bodyPr wrap="square" anchor="t" lIns="0" rIns="0" tIns="0" bIns="0"/>
          <a:lstStyle/>
          <a:p>
            <a:r>
              <a:rPr lang="en-US" sz="1000" b="1">
                <a:solidFill>
                  <a:srgbClr val="FB7185"/>
                </a:solidFill>
              </a:rPr>
              <a:t>TOP RISK  Unsupported or stale claims  |  control: source grounding + peer review + human approval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0000">
            <a:noFill/>
          </a:ln>
        </p:spPr>
      </p:sp>
      <p:sp>
        <p:nvSpPr>
          <p:cNvPr id="104" name="kicker"/>
          <p:cNvSpPr/>
          <p:nvPr/>
        </p:nvSpPr>
        <p:spPr>
          <a:xfrm>
            <a:off x="533399" y="279400"/>
            <a:ext cx="88899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900" b="1">
                <a:solidFill>
                  <a:srgbClr val="5EEAD4"/>
                </a:solidFill>
              </a:rPr>
              <a:t>02 / SOLUTION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0985499" cy="533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2500" b="1">
                <a:solidFill>
                  <a:srgbClr val="F8FAFC"/>
                </a:solidFill>
              </a:rPr>
              <a:t>Curated sources become channel-specific drafts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0985499" cy="330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A8B5C7"/>
                </a:solidFill>
              </a:rPr>
              <a:t>Primary evidence, secondary context and reviewer reasoning stay visibly separate.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65199" cy="50800"/>
          </a:xfrm>
          <a:prstGeom prst="rect">
            <a:avLst/>
          </a:prstGeom>
          <a:solidFill>
            <a:srgbClr val="5EEAD4"/>
          </a:solidFill>
          <a:ln w="10000">
            <a:noFill/>
          </a:ln>
        </p:spPr>
      </p:sp>
      <p:sp>
        <p:nvSpPr>
          <p:cNvPr id="108" name="timing"/>
          <p:cNvSpPr/>
          <p:nvPr/>
        </p:nvSpPr>
        <p:spPr>
          <a:xfrm>
            <a:off x="10413999" y="279400"/>
            <a:ext cx="12445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900" b="1">
                <a:solidFill>
                  <a:srgbClr val="FBBF24"/>
                </a:solidFill>
              </a:rPr>
              <a:t>1:30</a:t>
            </a:r>
          </a:p>
        </p:txBody>
      </p:sp>
      <p:sp>
        <p:nvSpPr>
          <p:cNvPr id="109" name="footer"/>
          <p:cNvSpPr/>
          <p:nvPr/>
        </p:nvSpPr>
        <p:spPr>
          <a:xfrm>
            <a:off x="533399" y="6477000"/>
            <a:ext cx="9651999" cy="152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800" b="0">
                <a:solidFill>
                  <a:srgbClr val="A8B5C7"/>
                </a:solidFill>
              </a:rPr>
              <a:t>Patagonia Content Studio  |  Card 6.2  |  M7 + M8</a:t>
            </a:r>
          </a:p>
        </p:txBody>
      </p:sp>
      <p:sp>
        <p:nvSpPr>
          <p:cNvPr id="110" name="number"/>
          <p:cNvSpPr/>
          <p:nvPr/>
        </p:nvSpPr>
        <p:spPr>
          <a:xfrm>
            <a:off x="11302999" y="6477000"/>
            <a:ext cx="355599" cy="152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03</a:t>
            </a:r>
          </a:p>
        </p:txBody>
      </p:sp>
      <p:sp>
        <p:nvSpPr>
          <p:cNvPr id="111" name="PRIMARY KB"/>
          <p:cNvSpPr/>
          <p:nvPr/>
        </p:nvSpPr>
        <p:spPr>
          <a:xfrm>
            <a:off x="533399" y="1905000"/>
            <a:ext cx="2082799" cy="13462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12" name="PRIMARY KB head"/>
          <p:cNvSpPr/>
          <p:nvPr/>
        </p:nvSpPr>
        <p:spPr>
          <a:xfrm>
            <a:off x="685799" y="2032000"/>
            <a:ext cx="17779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5EEAD4"/>
                </a:solidFill>
              </a:rPr>
              <a:t>PRIMARY KB</a:t>
            </a:r>
          </a:p>
        </p:txBody>
      </p:sp>
      <p:sp>
        <p:nvSpPr>
          <p:cNvPr id="113" name="PRIMARY KB body"/>
          <p:cNvSpPr/>
          <p:nvPr/>
        </p:nvSpPr>
        <p:spPr>
          <a:xfrm>
            <a:off x="685799" y="2413000"/>
            <a:ext cx="1777999" cy="711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4 Markdown files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Patagonia facts + metadata</a:t>
            </a:r>
          </a:p>
        </p:txBody>
      </p:sp>
      <p:sp>
        <p:nvSpPr>
          <p:cNvPr id="114" name="connector"/>
          <p:cNvSpPr/>
          <p:nvPr/>
        </p:nvSpPr>
        <p:spPr>
          <a:xfrm>
            <a:off x="2616199" y="2578100"/>
            <a:ext cx="76199" cy="0"/>
          </a:xfrm>
          <a:prstGeom prst="line">
            <a:avLst/>
          </a:prstGeom>
          <a:ln w="13000">
            <a:solidFill>
              <a:srgbClr val="5EEAD4"/>
            </a:solidFill>
            <a:tailEnd type="triangle"/>
          </a:ln>
        </p:spPr>
      </p:sp>
      <p:sp>
        <p:nvSpPr>
          <p:cNvPr id="115" name="SECONDARY KB"/>
          <p:cNvSpPr/>
          <p:nvPr/>
        </p:nvSpPr>
        <p:spPr>
          <a:xfrm>
            <a:off x="2793999" y="1905000"/>
            <a:ext cx="2082799" cy="13462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16" name="SECONDARY KB head"/>
          <p:cNvSpPr/>
          <p:nvPr/>
        </p:nvSpPr>
        <p:spPr>
          <a:xfrm>
            <a:off x="2946399" y="2032000"/>
            <a:ext cx="17779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60A5FA"/>
                </a:solidFill>
              </a:rPr>
              <a:t>SECONDARY KB</a:t>
            </a:r>
          </a:p>
        </p:txBody>
      </p:sp>
      <p:sp>
        <p:nvSpPr>
          <p:cNvPr id="117" name="SECONDARY KB body"/>
          <p:cNvSpPr/>
          <p:nvPr/>
        </p:nvSpPr>
        <p:spPr>
          <a:xfrm>
            <a:off x="2946399" y="2413000"/>
            <a:ext cx="1777999" cy="711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2 Markdown files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Trends + competitor context</a:t>
            </a:r>
          </a:p>
        </p:txBody>
      </p:sp>
      <p:sp>
        <p:nvSpPr>
          <p:cNvPr id="118" name="connector"/>
          <p:cNvSpPr/>
          <p:nvPr/>
        </p:nvSpPr>
        <p:spPr>
          <a:xfrm>
            <a:off x="4876799" y="2578100"/>
            <a:ext cx="76199" cy="0"/>
          </a:xfrm>
          <a:prstGeom prst="line">
            <a:avLst/>
          </a:prstGeom>
          <a:ln w="13000">
            <a:solidFill>
              <a:srgbClr val="60A5FA"/>
            </a:solidFill>
            <a:tailEnd type="triangle"/>
          </a:ln>
        </p:spPr>
      </p:sp>
      <p:sp>
        <p:nvSpPr>
          <p:cNvPr id="119" name="LOADER"/>
          <p:cNvSpPr/>
          <p:nvPr/>
        </p:nvSpPr>
        <p:spPr>
          <a:xfrm>
            <a:off x="5054599" y="1905000"/>
            <a:ext cx="2082799" cy="13462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20" name="LOADER head"/>
          <p:cNvSpPr/>
          <p:nvPr/>
        </p:nvSpPr>
        <p:spPr>
          <a:xfrm>
            <a:off x="5206999" y="2032000"/>
            <a:ext cx="17779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FBBF24"/>
                </a:solidFill>
              </a:rPr>
              <a:t>LOADER</a:t>
            </a:r>
          </a:p>
        </p:txBody>
      </p:sp>
      <p:sp>
        <p:nvSpPr>
          <p:cNvPr id="121" name="LOADER body"/>
          <p:cNvSpPr/>
          <p:nvPr/>
        </p:nvSpPr>
        <p:spPr>
          <a:xfrm>
            <a:off x="5206999" y="2413000"/>
            <a:ext cx="1777999" cy="711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Preserves source,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heading and metadata</a:t>
            </a:r>
          </a:p>
        </p:txBody>
      </p:sp>
      <p:sp>
        <p:nvSpPr>
          <p:cNvPr id="122" name="connector"/>
          <p:cNvSpPr/>
          <p:nvPr/>
        </p:nvSpPr>
        <p:spPr>
          <a:xfrm>
            <a:off x="7137399" y="2578100"/>
            <a:ext cx="76199" cy="0"/>
          </a:xfrm>
          <a:prstGeom prst="line">
            <a:avLst/>
          </a:prstGeom>
          <a:ln w="13000">
            <a:solidFill>
              <a:srgbClr val="FBBF24"/>
            </a:solidFill>
            <a:tailEnd type="triangle"/>
          </a:ln>
        </p:spPr>
      </p:sp>
      <p:sp>
        <p:nvSpPr>
          <p:cNvPr id="123" name="PROMPTS"/>
          <p:cNvSpPr/>
          <p:nvPr/>
        </p:nvSpPr>
        <p:spPr>
          <a:xfrm>
            <a:off x="7315199" y="1905000"/>
            <a:ext cx="2082799" cy="13462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24" name="PROMPTS head"/>
          <p:cNvSpPr/>
          <p:nvPr/>
        </p:nvSpPr>
        <p:spPr>
          <a:xfrm>
            <a:off x="7467599" y="2032000"/>
            <a:ext cx="17779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FB7185"/>
                </a:solidFill>
              </a:rPr>
              <a:t>PROMPTS</a:t>
            </a:r>
          </a:p>
        </p:txBody>
      </p:sp>
      <p:sp>
        <p:nvSpPr>
          <p:cNvPr id="125" name="PROMPTS body"/>
          <p:cNvSpPr/>
          <p:nvPr/>
        </p:nvSpPr>
        <p:spPr>
          <a:xfrm>
            <a:off x="7467599" y="2413000"/>
            <a:ext cx="1777999" cy="711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Instagram · LinkedIn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Email-specific shapes</a:t>
            </a:r>
          </a:p>
        </p:txBody>
      </p:sp>
      <p:sp>
        <p:nvSpPr>
          <p:cNvPr id="126" name="connector"/>
          <p:cNvSpPr/>
          <p:nvPr/>
        </p:nvSpPr>
        <p:spPr>
          <a:xfrm>
            <a:off x="9397999" y="2578100"/>
            <a:ext cx="76199" cy="0"/>
          </a:xfrm>
          <a:prstGeom prst="line">
            <a:avLst/>
          </a:prstGeom>
          <a:ln w="13000">
            <a:solidFill>
              <a:srgbClr val="FB7185"/>
            </a:solidFill>
            <a:tailEnd type="triangle"/>
          </a:ln>
        </p:spPr>
      </p:sp>
      <p:sp>
        <p:nvSpPr>
          <p:cNvPr id="127" name="REVIEW"/>
          <p:cNvSpPr/>
          <p:nvPr/>
        </p:nvSpPr>
        <p:spPr>
          <a:xfrm>
            <a:off x="9575799" y="1905000"/>
            <a:ext cx="2082799" cy="13462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28" name="REVIEW head"/>
          <p:cNvSpPr/>
          <p:nvPr/>
        </p:nvSpPr>
        <p:spPr>
          <a:xfrm>
            <a:off x="9728199" y="2032000"/>
            <a:ext cx="17779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86EFAC"/>
                </a:solidFill>
              </a:rPr>
              <a:t>REVIEW</a:t>
            </a:r>
          </a:p>
        </p:txBody>
      </p:sp>
      <p:sp>
        <p:nvSpPr>
          <p:cNvPr id="129" name="REVIEW body"/>
          <p:cNvSpPr/>
          <p:nvPr/>
        </p:nvSpPr>
        <p:spPr>
          <a:xfrm>
            <a:off x="9728199" y="2413000"/>
            <a:ext cx="1777999" cy="711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Notes → edit →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approve → export</a:t>
            </a:r>
          </a:p>
        </p:txBody>
      </p:sp>
      <p:sp>
        <p:nvSpPr>
          <p:cNvPr id="130" name="rag title"/>
          <p:cNvSpPr/>
          <p:nvPr/>
        </p:nvSpPr>
        <p:spPr>
          <a:xfrm>
            <a:off x="533399" y="3606800"/>
            <a:ext cx="2793999" cy="2540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200" b="1">
                <a:solidFill>
                  <a:srgbClr val="5EEAD4"/>
                </a:solidFill>
              </a:rPr>
              <a:t>CURRENT RAG DIRECTION</a:t>
            </a:r>
          </a:p>
        </p:txBody>
      </p:sp>
      <p:sp>
        <p:nvSpPr>
          <p:cNvPr id="131" name="rag"/>
          <p:cNvSpPr/>
          <p:nvPr/>
        </p:nvSpPr>
        <p:spPr>
          <a:xfrm>
            <a:off x="533399" y="3937000"/>
            <a:ext cx="6476999" cy="10414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  <p:txBody>
          <a:bodyPr wrap="square" anchor="t" lIns="0" rIns="0" tIns="0" bIns="0"/>
          <a:lstStyle/>
          <a:p>
            <a:r>
              <a:rPr lang="en-US" sz="1300" b="0">
                <a:solidFill>
                  <a:srgbClr val="F8FAFC"/>
                </a:solidFill>
              </a:rPr>
              <a:t>OpenAI embeddings  ·  local SQLite index</a:t>
            </a:r>
            <a:endParaRPr lang="en-US"/>
          </a:p>
          <a:p>
            <a:r>
              <a:rPr lang="en-US" sz="1300" b="0">
                <a:solidFill>
                  <a:srgbClr val="F8FAFC"/>
                </a:solidFill>
              </a:rPr>
              <a:t>Hybrid factual-first retrieval  ·  mutable source UI</a:t>
            </a:r>
            <a:endParaRPr lang="en-US"/>
          </a:p>
          <a:p>
            <a:r>
              <a:rPr lang="en-US" sz="1300" b="0">
                <a:solidFill>
                  <a:srgbClr val="F8FAFC"/>
                </a:solidFill>
              </a:rPr>
              <a:t>Upload / edit / delete with retrieval provenance</a:t>
            </a:r>
          </a:p>
        </p:txBody>
      </p:sp>
      <p:sp>
        <p:nvSpPr>
          <p:cNvPr id="132" name="trade title"/>
          <p:cNvSpPr/>
          <p:nvPr/>
        </p:nvSpPr>
        <p:spPr>
          <a:xfrm>
            <a:off x="7416799" y="3606800"/>
            <a:ext cx="3174999" cy="2540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200" b="1">
                <a:solidFill>
                  <a:srgbClr val="FBBF24"/>
                </a:solidFill>
              </a:rPr>
              <a:t>DECISION TRADEOFFS</a:t>
            </a:r>
          </a:p>
        </p:txBody>
      </p:sp>
      <p:sp>
        <p:nvSpPr>
          <p:cNvPr id="133" name="trade"/>
          <p:cNvSpPr/>
          <p:nvPr/>
        </p:nvSpPr>
        <p:spPr>
          <a:xfrm>
            <a:off x="7416799" y="3937000"/>
            <a:ext cx="4241799" cy="10414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  <p:txBody>
          <a:bodyPr wrap="square" anchor="t" lIns="0" rIns="0" tIns="0" bIns="0"/>
          <a:lstStyle/>
          <a:p>
            <a:r>
              <a:rPr lang="en-US" sz="1200" b="0">
                <a:solidFill>
                  <a:srgbClr val="F8FAFC"/>
                </a:solidFill>
              </a:rPr>
              <a:t>Targeted evidence selection</a:t>
            </a:r>
            <a:endParaRPr lang="en-US"/>
          </a:p>
          <a:p>
            <a:r>
              <a:rPr lang="en-US" sz="1200" b="0">
                <a:solidFill>
                  <a:srgbClr val="F8FAFC"/>
                </a:solidFill>
              </a:rPr>
              <a:t>Source / version updates</a:t>
            </a:r>
            <a:endParaRPr lang="en-US"/>
          </a:p>
          <a:p>
            <a:r>
              <a:rPr lang="en-US" sz="1200" b="0">
                <a:solidFill>
                  <a:srgbClr val="F8FAFC"/>
                </a:solidFill>
              </a:rPr>
              <a:t>Context cost + implementation complexity</a:t>
            </a:r>
          </a:p>
        </p:txBody>
      </p:sp>
      <p:sp>
        <p:nvSpPr>
          <p:cNvPr id="134" name="status"/>
          <p:cNvSpPr/>
          <p:nvPr/>
        </p:nvSpPr>
        <p:spPr>
          <a:xfrm>
            <a:off x="533399" y="5308600"/>
            <a:ext cx="11125199" cy="5842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F8FAFC"/>
                </a:solidFill>
              </a:rPr>
              <a:t>Evidence boundary  One live Instagram RAG draft reached manual edit, approval and export.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Other-channel RAG acceptance, live RAG revision and final deployment remain unestablished.</a:t>
            </a:r>
          </a:p>
        </p:txBody>
      </p:sp>
      <p:sp>
        <p:nvSpPr>
          <p:cNvPr id="135" name="source"/>
          <p:cNvSpPr/>
          <p:nvPr/>
        </p:nvSpPr>
        <p:spPr>
          <a:xfrm>
            <a:off x="533399" y="6070600"/>
            <a:ext cx="111251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900" b="0">
                <a:solidFill>
                  <a:srgbClr val="A8B5C7"/>
                </a:solidFill>
              </a:rPr>
              <a:t>Historical baseline: deterministic full-context injection fit the small, stable corpus; retrieval is justified by measured scale, diversity, update frequency and review burden.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0000">
            <a:noFill/>
          </a:ln>
        </p:spPr>
      </p:sp>
      <p:sp>
        <p:nvSpPr>
          <p:cNvPr id="104" name="kicker"/>
          <p:cNvSpPr/>
          <p:nvPr/>
        </p:nvSpPr>
        <p:spPr>
          <a:xfrm>
            <a:off x="533399" y="279400"/>
            <a:ext cx="88899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900" b="1">
                <a:solidFill>
                  <a:srgbClr val="5EEAD4"/>
                </a:solidFill>
              </a:rPr>
              <a:t>03 / LIVE DEMO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0985499" cy="533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2500" b="1">
                <a:solidFill>
                  <a:srgbClr val="F8FAFC"/>
                </a:solidFill>
              </a:rPr>
              <a:t>One brief, one grounded draft, one human review path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0985499" cy="330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A8B5C7"/>
                </a:solidFill>
              </a:rPr>
              <a:t>Sergii runs one Instagram generation; Martha makes the review decision.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65199" cy="50800"/>
          </a:xfrm>
          <a:prstGeom prst="rect">
            <a:avLst/>
          </a:prstGeom>
          <a:solidFill>
            <a:srgbClr val="5EEAD4"/>
          </a:solidFill>
          <a:ln w="10000">
            <a:noFill/>
          </a:ln>
        </p:spPr>
      </p:sp>
      <p:sp>
        <p:nvSpPr>
          <p:cNvPr id="108" name="timing"/>
          <p:cNvSpPr/>
          <p:nvPr/>
        </p:nvSpPr>
        <p:spPr>
          <a:xfrm>
            <a:off x="10413999" y="279400"/>
            <a:ext cx="12445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900" b="1">
                <a:solidFill>
                  <a:srgbClr val="FBBF24"/>
                </a:solidFill>
              </a:rPr>
              <a:t>2:15</a:t>
            </a:r>
          </a:p>
        </p:txBody>
      </p:sp>
      <p:sp>
        <p:nvSpPr>
          <p:cNvPr id="109" name="footer"/>
          <p:cNvSpPr/>
          <p:nvPr/>
        </p:nvSpPr>
        <p:spPr>
          <a:xfrm>
            <a:off x="533399" y="6477000"/>
            <a:ext cx="9651999" cy="152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800" b="0">
                <a:solidFill>
                  <a:srgbClr val="A8B5C7"/>
                </a:solidFill>
              </a:rPr>
              <a:t>Patagonia Content Studio  |  Card 6.2  |  M7 + M8</a:t>
            </a:r>
          </a:p>
        </p:txBody>
      </p:sp>
      <p:sp>
        <p:nvSpPr>
          <p:cNvPr id="110" name="number"/>
          <p:cNvSpPr/>
          <p:nvPr/>
        </p:nvSpPr>
        <p:spPr>
          <a:xfrm>
            <a:off x="11302999" y="6477000"/>
            <a:ext cx="355599" cy="152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04</a:t>
            </a:r>
          </a:p>
        </p:txBody>
      </p:sp>
      <p:sp>
        <p:nvSpPr>
          <p:cNvPr id="111" name="1  BRIEF"/>
          <p:cNvSpPr/>
          <p:nvPr/>
        </p:nvSpPr>
        <p:spPr>
          <a:xfrm>
            <a:off x="533399" y="1841500"/>
            <a:ext cx="1904999" cy="11176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12" name="1  BRIEF head"/>
          <p:cNvSpPr/>
          <p:nvPr/>
        </p:nvSpPr>
        <p:spPr>
          <a:xfrm>
            <a:off x="685799" y="1968500"/>
            <a:ext cx="1600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5EEAD4"/>
                </a:solidFill>
              </a:rPr>
              <a:t>1  BRIEF</a:t>
            </a:r>
          </a:p>
        </p:txBody>
      </p:sp>
      <p:sp>
        <p:nvSpPr>
          <p:cNvPr id="113" name="1  BRIEF body"/>
          <p:cNvSpPr/>
          <p:nvPr/>
        </p:nvSpPr>
        <p:spPr>
          <a:xfrm>
            <a:off x="685799" y="2349500"/>
            <a:ext cx="1600199" cy="4826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Enter Instagram brief</a:t>
            </a:r>
          </a:p>
        </p:txBody>
      </p:sp>
      <p:sp>
        <p:nvSpPr>
          <p:cNvPr id="114" name="connector"/>
          <p:cNvSpPr/>
          <p:nvPr/>
        </p:nvSpPr>
        <p:spPr>
          <a:xfrm>
            <a:off x="2438399" y="2400300"/>
            <a:ext cx="177799" cy="0"/>
          </a:xfrm>
          <a:prstGeom prst="line">
            <a:avLst/>
          </a:prstGeom>
          <a:ln w="13000">
            <a:solidFill>
              <a:srgbClr val="5EEAD4"/>
            </a:solidFill>
            <a:tailEnd type="triangle"/>
          </a:ln>
        </p:spPr>
      </p:sp>
      <p:sp>
        <p:nvSpPr>
          <p:cNvPr id="115" name="2  GENERATE"/>
          <p:cNvSpPr/>
          <p:nvPr/>
        </p:nvSpPr>
        <p:spPr>
          <a:xfrm>
            <a:off x="2717799" y="1841500"/>
            <a:ext cx="1904999" cy="11176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16" name="2  GENERATE head"/>
          <p:cNvSpPr/>
          <p:nvPr/>
        </p:nvSpPr>
        <p:spPr>
          <a:xfrm>
            <a:off x="2870199" y="1968500"/>
            <a:ext cx="1600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60A5FA"/>
                </a:solidFill>
              </a:rPr>
              <a:t>2  GENERATE</a:t>
            </a:r>
          </a:p>
        </p:txBody>
      </p:sp>
      <p:sp>
        <p:nvSpPr>
          <p:cNvPr id="117" name="2  GENERATE body"/>
          <p:cNvSpPr/>
          <p:nvPr/>
        </p:nvSpPr>
        <p:spPr>
          <a:xfrm>
            <a:off x="2870199" y="2349500"/>
            <a:ext cx="1600199" cy="4826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One live RAG draft</a:t>
            </a:r>
          </a:p>
        </p:txBody>
      </p:sp>
      <p:sp>
        <p:nvSpPr>
          <p:cNvPr id="118" name="connector"/>
          <p:cNvSpPr/>
          <p:nvPr/>
        </p:nvSpPr>
        <p:spPr>
          <a:xfrm>
            <a:off x="4622799" y="2400300"/>
            <a:ext cx="177799" cy="0"/>
          </a:xfrm>
          <a:prstGeom prst="line">
            <a:avLst/>
          </a:prstGeom>
          <a:ln w="13000">
            <a:solidFill>
              <a:srgbClr val="60A5FA"/>
            </a:solidFill>
            <a:tailEnd type="triangle"/>
          </a:ln>
        </p:spPr>
      </p:sp>
      <p:sp>
        <p:nvSpPr>
          <p:cNvPr id="119" name="3  INSPECT"/>
          <p:cNvSpPr/>
          <p:nvPr/>
        </p:nvSpPr>
        <p:spPr>
          <a:xfrm>
            <a:off x="4902199" y="1841500"/>
            <a:ext cx="1904999" cy="11176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20" name="3  INSPECT head"/>
          <p:cNvSpPr/>
          <p:nvPr/>
        </p:nvSpPr>
        <p:spPr>
          <a:xfrm>
            <a:off x="5054599" y="1968500"/>
            <a:ext cx="1600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FBBF24"/>
                </a:solidFill>
              </a:rPr>
              <a:t>3  INSPECT</a:t>
            </a:r>
          </a:p>
        </p:txBody>
      </p:sp>
      <p:sp>
        <p:nvSpPr>
          <p:cNvPr id="121" name="3  INSPECT body"/>
          <p:cNvSpPr/>
          <p:nvPr/>
        </p:nvSpPr>
        <p:spPr>
          <a:xfrm>
            <a:off x="5054599" y="2349500"/>
            <a:ext cx="1600199" cy="4826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Copy + notes + provenance</a:t>
            </a:r>
          </a:p>
        </p:txBody>
      </p:sp>
      <p:sp>
        <p:nvSpPr>
          <p:cNvPr id="122" name="connector"/>
          <p:cNvSpPr/>
          <p:nvPr/>
        </p:nvSpPr>
        <p:spPr>
          <a:xfrm>
            <a:off x="6807199" y="2400300"/>
            <a:ext cx="177799" cy="0"/>
          </a:xfrm>
          <a:prstGeom prst="line">
            <a:avLst/>
          </a:prstGeom>
          <a:ln w="13000">
            <a:solidFill>
              <a:srgbClr val="FBBF24"/>
            </a:solidFill>
            <a:tailEnd type="triangle"/>
          </a:ln>
        </p:spPr>
      </p:sp>
      <p:sp>
        <p:nvSpPr>
          <p:cNvPr id="123" name="4  EDIT"/>
          <p:cNvSpPr/>
          <p:nvPr/>
        </p:nvSpPr>
        <p:spPr>
          <a:xfrm>
            <a:off x="7086599" y="1841500"/>
            <a:ext cx="1904999" cy="11176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24" name="4  EDIT head"/>
          <p:cNvSpPr/>
          <p:nvPr/>
        </p:nvSpPr>
        <p:spPr>
          <a:xfrm>
            <a:off x="7238999" y="1968500"/>
            <a:ext cx="1600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FB7185"/>
                </a:solidFill>
              </a:rPr>
              <a:t>4  EDIT</a:t>
            </a:r>
          </a:p>
        </p:txBody>
      </p:sp>
      <p:sp>
        <p:nvSpPr>
          <p:cNvPr id="125" name="4  EDIT body"/>
          <p:cNvSpPr/>
          <p:nvPr/>
        </p:nvSpPr>
        <p:spPr>
          <a:xfrm>
            <a:off x="7238999" y="2349500"/>
            <a:ext cx="1600199" cy="4826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Manual edit once</a:t>
            </a:r>
          </a:p>
        </p:txBody>
      </p:sp>
      <p:sp>
        <p:nvSpPr>
          <p:cNvPr id="126" name="connector"/>
          <p:cNvSpPr/>
          <p:nvPr/>
        </p:nvSpPr>
        <p:spPr>
          <a:xfrm>
            <a:off x="8991599" y="2400300"/>
            <a:ext cx="177799" cy="0"/>
          </a:xfrm>
          <a:prstGeom prst="line">
            <a:avLst/>
          </a:prstGeom>
          <a:ln w="13000">
            <a:solidFill>
              <a:srgbClr val="FB7185"/>
            </a:solidFill>
            <a:tailEnd type="triangle"/>
          </a:ln>
        </p:spPr>
      </p:sp>
      <p:sp>
        <p:nvSpPr>
          <p:cNvPr id="127" name="5  APPROVE"/>
          <p:cNvSpPr/>
          <p:nvPr/>
        </p:nvSpPr>
        <p:spPr>
          <a:xfrm>
            <a:off x="9270999" y="1841500"/>
            <a:ext cx="1904999" cy="11176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28" name="5  APPROVE head"/>
          <p:cNvSpPr/>
          <p:nvPr/>
        </p:nvSpPr>
        <p:spPr>
          <a:xfrm>
            <a:off x="9423399" y="1968500"/>
            <a:ext cx="1600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86EFAC"/>
                </a:solidFill>
              </a:rPr>
              <a:t>5  APPROVE</a:t>
            </a:r>
          </a:p>
        </p:txBody>
      </p:sp>
      <p:sp>
        <p:nvSpPr>
          <p:cNvPr id="129" name="5  APPROVE body"/>
          <p:cNvSpPr/>
          <p:nvPr/>
        </p:nvSpPr>
        <p:spPr>
          <a:xfrm>
            <a:off x="9423399" y="2349500"/>
            <a:ext cx="1600199" cy="4826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000" b="0">
                <a:solidFill>
                  <a:srgbClr val="F8FAFC"/>
                </a:solidFill>
              </a:rPr>
              <a:t>Export Markdown / JSON</a:t>
            </a:r>
          </a:p>
        </p:txBody>
      </p:sp>
      <p:sp>
        <p:nvSpPr>
          <p:cNvPr id="130" name="preserved"/>
          <p:cNvSpPr/>
          <p:nvPr/>
        </p:nvSpPr>
        <p:spPr>
          <a:xfrm>
            <a:off x="533399" y="3301999"/>
            <a:ext cx="5333999" cy="4064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  <p:txBody>
          <a:bodyPr wrap="square" anchor="t" lIns="0" rIns="0" tIns="0" bIns="0"/>
          <a:lstStyle/>
          <a:p>
            <a:r>
              <a:rPr lang="en-US" sz="1100" b="1">
                <a:solidFill>
                  <a:srgbClr val="F8FAFC"/>
                </a:solidFill>
              </a:rPr>
              <a:t>Other channels: show preserved state only.</a:t>
            </a:r>
            <a:endParaRPr lang="en-US"/>
          </a:p>
          <a:p>
            <a:r>
              <a:rPr lang="en-US" sz="1100" b="1">
                <a:solidFill>
                  <a:srgbClr val="F8FAFC"/>
                </a:solidFill>
              </a:rPr>
              <a:t>Do not make extra live calls.</a:t>
            </a:r>
          </a:p>
        </p:txBody>
      </p:sp>
      <p:sp>
        <p:nvSpPr>
          <p:cNvPr id="131" name="fallback"/>
          <p:cNvSpPr/>
          <p:nvPr/>
        </p:nvSpPr>
        <p:spPr>
          <a:xfrm>
            <a:off x="6324599" y="3301999"/>
            <a:ext cx="5333999" cy="4064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  <p:txBody>
          <a:bodyPr wrap="square" anchor="t" lIns="0" rIns="0" tIns="0" bIns="0"/>
          <a:lstStyle/>
          <a:p>
            <a:r>
              <a:rPr lang="en-US" sz="1100" b="1">
                <a:solidFill>
                  <a:srgbClr val="F8FAFC"/>
                </a:solidFill>
              </a:rPr>
              <a:t>API fallback: saved verified artifact, same narrated path.</a:t>
            </a:r>
          </a:p>
        </p:txBody>
      </p:sp>
      <p:sp>
        <p:nvSpPr>
          <p:cNvPr id="132" name="compare"/>
          <p:cNvSpPr/>
          <p:nvPr/>
        </p:nvSpPr>
        <p:spPr>
          <a:xfrm>
            <a:off x="533399" y="4013199"/>
            <a:ext cx="11125199" cy="279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1100" b="1">
                <a:solidFill>
                  <a:srgbClr val="FBBF24"/>
                </a:solidFill>
              </a:rPr>
              <a:t>WITHOUT SUPPLIED SOURCES  vs  FULL-CONTEXT INJECTION  —  historical non-RAG comparison</a:t>
            </a:r>
          </a:p>
        </p:txBody>
      </p:sp>
      <p:sp>
        <p:nvSpPr>
          <p:cNvPr id="133" name="WITHOUT SUPPLIED SOURCES"/>
          <p:cNvSpPr/>
          <p:nvPr/>
        </p:nvSpPr>
        <p:spPr>
          <a:xfrm>
            <a:off x="533399" y="4445000"/>
            <a:ext cx="5333999" cy="14224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34" name="WITHOUT SUPPLIED SOURCES head"/>
          <p:cNvSpPr/>
          <p:nvPr/>
        </p:nvSpPr>
        <p:spPr>
          <a:xfrm>
            <a:off x="685799" y="4572000"/>
            <a:ext cx="5029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FB7185"/>
                </a:solidFill>
              </a:rPr>
              <a:t>WITHOUT SUPPLIED SOURCES</a:t>
            </a:r>
          </a:p>
        </p:txBody>
      </p:sp>
      <p:sp>
        <p:nvSpPr>
          <p:cNvPr id="135" name="WITHOUT SUPPLIED SOURCES body"/>
          <p:cNvSpPr/>
          <p:nvPr/>
        </p:nvSpPr>
        <p:spPr>
          <a:xfrm>
            <a:off x="685799" y="4953000"/>
            <a:ext cx="5029199" cy="787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400" b="0">
                <a:solidFill>
                  <a:srgbClr val="F8FAFC"/>
                </a:solidFill>
              </a:rPr>
              <a:t>“Built to pack down easily, it’s designed</a:t>
            </a:r>
            <a:endParaRPr lang="en-US"/>
          </a:p>
          <a:p>
            <a:r>
              <a:rPr lang="en-US" sz="1400" b="0">
                <a:solidFill>
                  <a:srgbClr val="F8FAFC"/>
                </a:solidFill>
              </a:rPr>
              <a:t>with convenience in mind”</a:t>
            </a:r>
          </a:p>
        </p:txBody>
      </p:sp>
      <p:sp>
        <p:nvSpPr>
          <p:cNvPr id="136" name="FULL-CONTEXT INJECTION"/>
          <p:cNvSpPr/>
          <p:nvPr/>
        </p:nvSpPr>
        <p:spPr>
          <a:xfrm>
            <a:off x="6324599" y="4445000"/>
            <a:ext cx="5333999" cy="14224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37" name="FULL-CONTEXT INJECTION head"/>
          <p:cNvSpPr/>
          <p:nvPr/>
        </p:nvSpPr>
        <p:spPr>
          <a:xfrm>
            <a:off x="6476999" y="4572000"/>
            <a:ext cx="5029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5EEAD4"/>
                </a:solidFill>
              </a:rPr>
              <a:t>FULL-CONTEXT INJECTION</a:t>
            </a:r>
          </a:p>
        </p:txBody>
      </p:sp>
      <p:sp>
        <p:nvSpPr>
          <p:cNvPr id="138" name="FULL-CONTEXT INJECTION body"/>
          <p:cNvSpPr/>
          <p:nvPr/>
        </p:nvSpPr>
        <p:spPr>
          <a:xfrm>
            <a:off x="6476999" y="4953000"/>
            <a:ext cx="5029199" cy="787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400" b="0">
                <a:solidFill>
                  <a:srgbClr val="F8FAFC"/>
                </a:solidFill>
              </a:rPr>
              <a:t>“The internal zippered chest pocket</a:t>
            </a:r>
            <a:endParaRPr lang="en-US"/>
          </a:p>
          <a:p>
            <a:r>
              <a:rPr lang="en-US" sz="1400" b="0">
                <a:solidFill>
                  <a:srgbClr val="F8FAFC"/>
                </a:solidFill>
              </a:rPr>
              <a:t>that doubles as a stuffsack”</a:t>
            </a:r>
          </a:p>
        </p:txBody>
      </p:sp>
      <p:sp>
        <p:nvSpPr>
          <p:cNvPr id="139" name="demo note"/>
          <p:cNvSpPr/>
          <p:nvPr/>
        </p:nvSpPr>
        <p:spPr>
          <a:xfrm>
            <a:off x="533399" y="6045200"/>
            <a:ext cx="11125199" cy="2286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n-US" sz="900" b="0">
                <a:solidFill>
                  <a:srgbClr val="A8B5C7"/>
                </a:solidFill>
              </a:rPr>
              <a:t>Read the excerpts exactly. One qualitative sample per channel, not statistical proof and not a RAG benchmark.</a:t>
            </a:r>
          </a:p>
        </p:txBody>
      </p:sp>
    </p:spTree>
  </p:cSld>
</p:sld>
</file>

<file path=ppt/slides/slide5.xml><?xml version="1.0" encoding="utf-8"?>
<p:sld xmlns:ns0="http://schemas.openxmlformats.org/officeDocument/2006/relationships"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0000">
            <a:noFill/>
          </a:ln>
        </p:spPr>
      </p:sp>
      <p:sp>
        <p:nvSpPr>
          <p:cNvPr id="104" name="kicker"/>
          <p:cNvSpPr/>
          <p:nvPr/>
        </p:nvSpPr>
        <p:spPr>
          <a:xfrm>
            <a:off x="533399" y="279400"/>
            <a:ext cx="88899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900" b="1">
                <a:solidFill>
                  <a:srgbClr val="5EEAD4"/>
                </a:solidFill>
              </a:rPr>
              <a:t>04 / TAKEAWAYS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0985499" cy="533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2500" b="1">
                <a:solidFill>
                  <a:srgbClr val="F8FAFC"/>
                </a:solidFill>
              </a:rPr>
              <a:t>What we can defend today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0985499" cy="330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A8B5C7"/>
                </a:solidFill>
              </a:rPr>
              <a:t>A reviewable prototype with explicit evidence boundaries and a clear next decision set.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65199" cy="50800"/>
          </a:xfrm>
          <a:prstGeom prst="rect">
            <a:avLst/>
          </a:prstGeom>
          <a:solidFill>
            <a:srgbClr val="5EEAD4"/>
          </a:solidFill>
          <a:ln w="10000">
            <a:noFill/>
          </a:ln>
        </p:spPr>
      </p:sp>
      <p:sp>
        <p:nvSpPr>
          <p:cNvPr id="108" name="timing"/>
          <p:cNvSpPr/>
          <p:nvPr/>
        </p:nvSpPr>
        <p:spPr>
          <a:xfrm>
            <a:off x="10413999" y="279400"/>
            <a:ext cx="1244599" cy="2032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900" b="1">
                <a:solidFill>
                  <a:srgbClr val="FBBF24"/>
                </a:solidFill>
              </a:rPr>
              <a:t>1:15</a:t>
            </a:r>
          </a:p>
        </p:txBody>
      </p:sp>
      <p:sp>
        <p:nvSpPr>
          <p:cNvPr id="109" name="footer"/>
          <p:cNvSpPr/>
          <p:nvPr/>
        </p:nvSpPr>
        <p:spPr>
          <a:xfrm>
            <a:off x="533399" y="6477000"/>
            <a:ext cx="9651999" cy="152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800" b="0">
                <a:solidFill>
                  <a:srgbClr val="A8B5C7"/>
                </a:solidFill>
              </a:rPr>
              <a:t>Patagonia Content Studio  |  Card 6.2  |  M7 + M8</a:t>
            </a:r>
          </a:p>
        </p:txBody>
      </p:sp>
      <p:sp>
        <p:nvSpPr>
          <p:cNvPr id="110" name="number"/>
          <p:cNvSpPr/>
          <p:nvPr/>
        </p:nvSpPr>
        <p:spPr>
          <a:xfrm>
            <a:off x="11302999" y="6477000"/>
            <a:ext cx="355599" cy="1524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05</a:t>
            </a:r>
          </a:p>
        </p:txBody>
      </p:sp>
      <p:sp>
        <p:nvSpPr>
          <p:cNvPr id="111" name="DELIVERED"/>
          <p:cNvSpPr/>
          <p:nvPr/>
        </p:nvSpPr>
        <p:spPr>
          <a:xfrm>
            <a:off x="533399" y="1841500"/>
            <a:ext cx="6349999" cy="19558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12" name="DELIVERED head"/>
          <p:cNvSpPr/>
          <p:nvPr/>
        </p:nvSpPr>
        <p:spPr>
          <a:xfrm>
            <a:off x="685799" y="1968500"/>
            <a:ext cx="6045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5EEAD4"/>
                </a:solidFill>
              </a:rPr>
              <a:t>DELIVERED</a:t>
            </a:r>
          </a:p>
        </p:txBody>
      </p:sp>
      <p:sp>
        <p:nvSpPr>
          <p:cNvPr id="113" name="DELIVERED body"/>
          <p:cNvSpPr/>
          <p:nvPr/>
        </p:nvSpPr>
        <p:spPr>
          <a:xfrm>
            <a:off x="685799" y="2349500"/>
            <a:ext cx="6045199" cy="1320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F8FAFC"/>
                </a:solidFill>
              </a:rPr>
              <a:t>• Multi-channel workflow around primary + secondary Markdown KBs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• Facts, interpretation and reviewer notes stay separate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• Human approval gates export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• Historical comparison shows a concrete style-84212 detail</a:t>
            </a:r>
          </a:p>
        </p:txBody>
      </p:sp>
      <p:sp>
        <p:nvSpPr>
          <p:cNvPr id="114" name="CURRENT RAG STATUS"/>
          <p:cNvSpPr/>
          <p:nvPr/>
        </p:nvSpPr>
        <p:spPr>
          <a:xfrm>
            <a:off x="533399" y="4064000"/>
            <a:ext cx="6349999" cy="17780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</p:sp>
      <p:sp>
        <p:nvSpPr>
          <p:cNvPr id="115" name="CURRENT RAG STATUS head"/>
          <p:cNvSpPr/>
          <p:nvPr/>
        </p:nvSpPr>
        <p:spPr>
          <a:xfrm>
            <a:off x="685799" y="4191000"/>
            <a:ext cx="6045199" cy="3048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300" b="1">
                <a:solidFill>
                  <a:srgbClr val="60A5FA"/>
                </a:solidFill>
              </a:rPr>
              <a:t>CURRENT RAG STATUS</a:t>
            </a:r>
          </a:p>
        </p:txBody>
      </p:sp>
      <p:sp>
        <p:nvSpPr>
          <p:cNvPr id="116" name="CURRENT RAG STATUS body"/>
          <p:cNvSpPr/>
          <p:nvPr/>
        </p:nvSpPr>
        <p:spPr>
          <a:xfrm>
            <a:off x="685799" y="4572000"/>
            <a:ext cx="6045199" cy="11430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1100" b="0">
                <a:solidFill>
                  <a:srgbClr val="F8FAFC"/>
                </a:solidFill>
              </a:rPr>
              <a:t>Embeddings + local SQLite index + hybrid factual-first retrieval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Mutable-source UI with provenance</a:t>
            </a:r>
            <a:endParaRPr lang="en-US"/>
          </a:p>
          <a:p>
            <a:r>
              <a:rPr lang="en-US" sz="1100" b="0">
                <a:solidFill>
                  <a:srgbClr val="F8FAFC"/>
                </a:solidFill>
              </a:rPr>
              <a:t>One live Instagram draft reached edit, approval and export</a:t>
            </a:r>
          </a:p>
        </p:txBody>
      </p:sp>
      <p:sp>
        <p:nvSpPr>
          <p:cNvPr id="117" name="limitations"/>
          <p:cNvSpPr/>
          <p:nvPr/>
        </p:nvSpPr>
        <p:spPr>
          <a:xfrm>
            <a:off x="7238999" y="1841500"/>
            <a:ext cx="4419599" cy="10160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  <p:txBody>
          <a:bodyPr wrap="square" anchor="t" lIns="0" rIns="0" tIns="0" bIns="0"/>
          <a:lstStyle/>
          <a:p>
            <a:r>
              <a:rPr lang="en-US" sz="1100" b="1">
                <a:solidFill>
                  <a:srgbClr val="FB7185"/>
                </a:solidFill>
              </a:rPr>
              <a:t>LIMITATIONS</a:t>
            </a:r>
            <a:endParaRPr lang="en-US"/>
          </a:p>
          <a:p>
            <a:r>
              <a:rPr lang="en-US" sz="1100" b="1">
                <a:solidFill>
                  <a:srgbClr val="FB7185"/>
                </a:solidFill>
              </a:rPr>
              <a:t>Other-channel RAG acceptance, live RAG revision and final deployment are not established.</a:t>
            </a:r>
          </a:p>
        </p:txBody>
      </p:sp>
      <p:pic>
        <p:nvPicPr>
          <p:cNvPr id="918" name="Day 1 Kanban board"/>
          <p:cNvPicPr/>
          <p:nvPr/>
        </p:nvPicPr>
        <p:blipFill>
          <a:blip ns0:embed="rId2"/>
          <a:stretch>
            <a:fillRect/>
          </a:stretch>
        </p:blipFill>
        <p:spPr>
          <a:xfrm>
            <a:off x="7238999" y="3098800"/>
            <a:ext cx="2095499" cy="2489200"/>
          </a:xfrm>
          <a:prstGeom prst="rect">
            <a:avLst/>
          </a:prstGeom>
        </p:spPr>
      </p:pic>
      <p:pic>
        <p:nvPicPr>
          <p:cNvPr id="919" name="Definition of Done"/>
          <p:cNvPicPr/>
          <p:nvPr/>
        </p:nvPicPr>
        <p:blipFill>
          <a:blip ns0:embed="rId3"/>
          <a:stretch>
            <a:fillRect/>
          </a:stretch>
        </p:blipFill>
        <p:spPr>
          <a:xfrm>
            <a:off x="9563099" y="3098800"/>
            <a:ext cx="2095499" cy="2489200"/>
          </a:xfrm>
          <a:prstGeom prst="rect">
            <a:avLst/>
          </a:prstGeom>
        </p:spPr>
      </p:pic>
      <p:sp>
        <p:nvSpPr>
          <p:cNvPr id="120" name="board note"/>
          <p:cNvSpPr/>
          <p:nvPr/>
        </p:nvSpPr>
        <p:spPr>
          <a:xfrm>
            <a:off x="7238999" y="5715000"/>
            <a:ext cx="4419599" cy="457200"/>
          </a:xfrm>
          <a:prstGeom prst="roundRect">
            <a:avLst/>
          </a:prstGeom>
          <a:solidFill>
            <a:srgbClr val="111C2E"/>
          </a:solidFill>
          <a:ln w="10000">
            <a:solidFill>
              <a:srgbClr val="263650"/>
            </a:solidFill>
          </a:ln>
        </p:spPr>
        <p:txBody>
          <a:bodyPr wrap="square" anchor="t" lIns="0" rIns="0" tIns="0" bIns="0"/>
          <a:lstStyle/>
          <a:p>
            <a:r>
              <a:rPr lang="en-US" sz="1000" b="1">
                <a:solidFill>
                  <a:srgbClr val="FBBF24"/>
                </a:solidFill>
              </a:rPr>
              <a:t>Day 1 evidence shown.</a:t>
            </a:r>
            <a:endParaRPr lang="en-US"/>
          </a:p>
          <a:p>
            <a:r>
              <a:rPr lang="en-US" sz="1000" b="1">
                <a:solidFill>
                  <a:srgbClr val="FBBF24"/>
                </a:solidFill>
              </a:rPr>
              <a:t>Day 2 board screenshot remains pending.</a:t>
            </a:r>
          </a:p>
        </p:txBody>
      </p:sp>
      <p:sp>
        <p:nvSpPr>
          <p:cNvPr id="121" name="work"/>
          <p:cNvSpPr/>
          <p:nvPr/>
        </p:nvSpPr>
        <p:spPr>
          <a:xfrm>
            <a:off x="533399" y="6045200"/>
            <a:ext cx="6349999" cy="228600"/>
          </a:xfrm>
          <a:prstGeom prst="rect">
            <a:avLst/>
          </a:prstGeom>
          <a:noFill/>
          <a:ln w="10000">
            <a:noFill/>
          </a:ln>
        </p:spPr>
        <p:txBody>
          <a:bodyPr wrap="square" anchor="t" lIns="0" rIns="0" tIns="0" bIns="0"/>
          <a:lstStyle/>
          <a:p>
            <a:r>
              <a:rPr lang="en-US" sz="900" b="1">
                <a:solidFill>
                  <a:srgbClr val="F8FAFC"/>
                </a:solidFill>
              </a:rPr>
              <a:t>Day 1: plan, source, ingest, smoke-test  |  Day 2: pipeline, UI, evaluation, delivery  |  WIP = 2  |  DoD = artifact + verification + peer review + card record</a:t>
            </a:r>
          </a:p>
        </p:txBody>
      </p:sp>
    </p:spTree>
  </p:cSld>
</p:sld>
</file>

<file path=ppt/theme/theme1.xml><?xml version="1.0" encoding="utf-8"?>
<a:theme xmlns:a="http://schemas.openxmlformats.org/drawingml/2006/main" name="Patagonia Content Studio">
  <a:themeElements>
    <a:clrScheme name="Custom">
      <a:dk1>
        <a:srgbClr val="0B1220"/>
      </a:dk1>
      <a:lt1>
        <a:srgbClr val="F8FAFC"/>
      </a:lt1>
      <a:dk2>
        <a:srgbClr val="111C2E"/>
      </a:dk2>
      <a:lt2>
        <a:srgbClr val="A8B5C7"/>
      </a:lt2>
      <a:accent1>
        <a:srgbClr val="5EEAD4"/>
      </a:accent1>
      <a:accent2>
        <a:srgbClr val="60A5FA"/>
      </a:accent2>
      <a:accent3>
        <a:srgbClr val="FBBF24"/>
      </a:accent3>
      <a:accent4>
        <a:srgbClr val="FB7185"/>
      </a:accent4>
      <a:accent5>
        <a:srgbClr val="86EFAC"/>
      </a:accent5>
    </a:clrScheme>
    <a:fontScheme name="Aptos">
      <a:majorFont>
        <a:latin typeface="Aptos Display"/>
      </a:majorFont>
      <a:minorFont>
        <a:latin typeface="Aptos"/>
      </a:minorFont>
    </a:fontScheme>
    <a:fmtScheme name="Custom">
      <a:fillStyleLst>
        <a:solidFill>
          <a:srgbClr val="FFFFFF"/>
        </a:solidFill>
      </a:fillStyleLst>
      <a:lnStyleLst/>
      <a:effectStyleLst/>
      <a:bgFillStyleLst>
        <a:solidFill>
          <a:srgbClr val="0B1220"/>
        </a:solidFill>
      </a:bgFillStyleLst>
    </a:fmtScheme>
  </a:themeElements>
</a:theme>
</file>