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 type="screen16x9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Layout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Master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kanban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brand"/>
          <p:cNvSpPr/>
          <p:nvPr/>
        </p:nvSpPr>
        <p:spPr>
          <a:xfrm>
            <a:off x="736599" y="736600"/>
            <a:ext cx="6349999" cy="228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1">
                <a:solidFill>
                  <a:srgbClr val="5EEAD4"/>
                </a:solidFill>
              </a:rPr>
              <a:t>AI CONTENT CREATOR</a:t>
            </a:r>
          </a:p>
        </p:txBody>
      </p:sp>
      <p:sp>
        <p:nvSpPr>
          <p:cNvPr id="105" name="title"/>
          <p:cNvSpPr/>
          <p:nvPr/>
        </p:nvSpPr>
        <p:spPr>
          <a:xfrm>
            <a:off x="736599" y="1422400"/>
            <a:ext cx="8254999" cy="2159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3500" b="1">
                <a:solidFill>
                  <a:srgbClr val="F8FAFC"/>
                </a:solidFill>
              </a:rPr>
              <a:t>Intelligent,</a:t>
            </a:r>
            <a:endParaRPr lang="en-US"/>
          </a:p>
          <a:p>
            <a:r>
              <a:rPr lang="en-US" sz="3500" b="1">
                <a:solidFill>
                  <a:srgbClr val="F8FAFC"/>
                </a:solidFill>
              </a:rPr>
              <a:t>Brand-Aware</a:t>
            </a:r>
            <a:endParaRPr lang="en-US"/>
          </a:p>
          <a:p>
            <a:r>
              <a:rPr lang="en-US" sz="3500" b="1">
                <a:solidFill>
                  <a:srgbClr val="F8FAFC"/>
                </a:solidFill>
              </a:rPr>
              <a:t>Content Generation</a:t>
            </a:r>
          </a:p>
        </p:txBody>
      </p:sp>
      <p:sp>
        <p:nvSpPr>
          <p:cNvPr id="106" name="sub"/>
          <p:cNvSpPr/>
          <p:nvPr/>
        </p:nvSpPr>
        <p:spPr>
          <a:xfrm>
            <a:off x="787399" y="4013199"/>
            <a:ext cx="7111999" cy="6985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500" b="0">
                <a:solidFill>
                  <a:srgbClr val="A8B5C7"/>
                </a:solidFill>
              </a:rPr>
              <a:t>A grounded Patagonia Content Studio prototype</a:t>
            </a:r>
            <a:endParaRPr lang="en-US"/>
          </a:p>
          <a:p>
            <a:r>
              <a:rPr lang="en-US" sz="1500" b="0">
                <a:solidFill>
                  <a:srgbClr val="A8B5C7"/>
                </a:solidFill>
              </a:rPr>
              <a:t>that turns a campaign brief into reviewable, channel-native drafts.</a:t>
            </a:r>
          </a:p>
        </p:txBody>
      </p:sp>
      <p:sp>
        <p:nvSpPr>
          <p:cNvPr id="107" name="stack"/>
          <p:cNvSpPr/>
          <p:nvPr/>
        </p:nvSpPr>
        <p:spPr>
          <a:xfrm>
            <a:off x="787399" y="5334000"/>
            <a:ext cx="7873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1">
                <a:solidFill>
                  <a:srgbClr val="FBBF24"/>
                </a:solidFill>
              </a:rPr>
              <a:t>Python • Streamlit • Markdown knowledge bases • OpenAI API</a:t>
            </a:r>
          </a:p>
        </p:txBody>
      </p:sp>
      <p:sp>
        <p:nvSpPr>
          <p:cNvPr id="108" name="date"/>
          <p:cNvSpPr/>
          <p:nvPr/>
        </p:nvSpPr>
        <p:spPr>
          <a:xfrm>
            <a:off x="787399" y="5918200"/>
            <a:ext cx="6349999" cy="228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0">
                <a:solidFill>
                  <a:srgbClr val="A8B5C7"/>
                </a:solidFill>
              </a:rPr>
              <a:t>22–23 October 2026  |  Final project 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01 / PRODUCT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product is a controlled path from brief to publishable draft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system is an intelligent interface between a marketing team and its prospective customers.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1. BRIEF"/>
          <p:cNvSpPr/>
          <p:nvPr/>
        </p:nvSpPr>
        <p:spPr>
          <a:xfrm>
            <a:off x="660399" y="2159000"/>
            <a:ext cx="2666999" cy="1905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1. BRIEF head"/>
          <p:cNvSpPr/>
          <p:nvPr/>
        </p:nvSpPr>
        <p:spPr>
          <a:xfrm>
            <a:off x="787399" y="2273300"/>
            <a:ext cx="2412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1. BRIEF</a:t>
            </a:r>
          </a:p>
        </p:txBody>
      </p:sp>
      <p:sp>
        <p:nvSpPr>
          <p:cNvPr id="110" name="1. BRIEF body"/>
          <p:cNvSpPr/>
          <p:nvPr/>
        </p:nvSpPr>
        <p:spPr>
          <a:xfrm>
            <a:off x="787399" y="2641600"/>
            <a:ext cx="2412999" cy="1320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A human enters the campaign goal, audience and channel.</a:t>
            </a:r>
          </a:p>
        </p:txBody>
      </p:sp>
      <p:sp>
        <p:nvSpPr>
          <p:cNvPr id="111" name="2. GROUND"/>
          <p:cNvSpPr/>
          <p:nvPr/>
        </p:nvSpPr>
        <p:spPr>
          <a:xfrm>
            <a:off x="3492499" y="2159000"/>
            <a:ext cx="2666999" cy="1905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2. GROUND head"/>
          <p:cNvSpPr/>
          <p:nvPr/>
        </p:nvSpPr>
        <p:spPr>
          <a:xfrm>
            <a:off x="3619499" y="2273300"/>
            <a:ext cx="2412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2. GROUND</a:t>
            </a:r>
          </a:p>
        </p:txBody>
      </p:sp>
      <p:sp>
        <p:nvSpPr>
          <p:cNvPr id="113" name="2. GROUND body"/>
          <p:cNvSpPr/>
          <p:nvPr/>
        </p:nvSpPr>
        <p:spPr>
          <a:xfrm>
            <a:off x="3619499" y="2641600"/>
            <a:ext cx="2412999" cy="1320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Curated primary + secondary Markdown sources are assembled deterministically.</a:t>
            </a:r>
          </a:p>
        </p:txBody>
      </p:sp>
      <p:sp>
        <p:nvSpPr>
          <p:cNvPr id="114" name="3. DRAFT"/>
          <p:cNvSpPr/>
          <p:nvPr/>
        </p:nvSpPr>
        <p:spPr>
          <a:xfrm>
            <a:off x="6324599" y="2159000"/>
            <a:ext cx="2666999" cy="1905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3. DRAFT head"/>
          <p:cNvSpPr/>
          <p:nvPr/>
        </p:nvSpPr>
        <p:spPr>
          <a:xfrm>
            <a:off x="6451599" y="2273300"/>
            <a:ext cx="2412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3. DRAFT</a:t>
            </a:r>
          </a:p>
        </p:txBody>
      </p:sp>
      <p:sp>
        <p:nvSpPr>
          <p:cNvPr id="116" name="3. DRAFT body"/>
          <p:cNvSpPr/>
          <p:nvPr/>
        </p:nvSpPr>
        <p:spPr>
          <a:xfrm>
            <a:off x="6451599" y="2641600"/>
            <a:ext cx="2412999" cy="1320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OpenAI generates a channel-specific draft with reviewer notes.</a:t>
            </a:r>
          </a:p>
        </p:txBody>
      </p:sp>
      <p:sp>
        <p:nvSpPr>
          <p:cNvPr id="117" name="4. REVIEW"/>
          <p:cNvSpPr/>
          <p:nvPr/>
        </p:nvSpPr>
        <p:spPr>
          <a:xfrm>
            <a:off x="9156699" y="2159000"/>
            <a:ext cx="2349499" cy="1905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8" name="4. REVIEW head"/>
          <p:cNvSpPr/>
          <p:nvPr/>
        </p:nvSpPr>
        <p:spPr>
          <a:xfrm>
            <a:off x="9283699" y="2273300"/>
            <a:ext cx="2095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4. REVIEW</a:t>
            </a:r>
          </a:p>
        </p:txBody>
      </p:sp>
      <p:sp>
        <p:nvSpPr>
          <p:cNvPr id="119" name="4. REVIEW body"/>
          <p:cNvSpPr/>
          <p:nvPr/>
        </p:nvSpPr>
        <p:spPr>
          <a:xfrm>
            <a:off x="9283699" y="2641600"/>
            <a:ext cx="2095499" cy="1320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Edit, revise, approve and export — only after human action.</a:t>
            </a:r>
          </a:p>
        </p:txBody>
      </p:sp>
      <p:sp>
        <p:nvSpPr>
          <p:cNvPr id="120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21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02 / WHY NOW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problem is not “can AI write?” — it is “can a brand stay itself?”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Generic AI-Slop creates copy that is smooth, interchangeable and weakly accountable.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GENERIC AI-SLOP"/>
          <p:cNvSpPr/>
          <p:nvPr/>
        </p:nvSpPr>
        <p:spPr>
          <a:xfrm>
            <a:off x="698499" y="2095500"/>
            <a:ext cx="3174999" cy="2603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GENERIC AI-SLOP head"/>
          <p:cNvSpPr/>
          <p:nvPr/>
        </p:nvSpPr>
        <p:spPr>
          <a:xfrm>
            <a:off x="825499" y="2209800"/>
            <a:ext cx="2920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GENERIC AI-SLOP</a:t>
            </a:r>
          </a:p>
        </p:txBody>
      </p:sp>
      <p:sp>
        <p:nvSpPr>
          <p:cNvPr id="110" name="GENERIC AI-SLOP body"/>
          <p:cNvSpPr/>
          <p:nvPr/>
        </p:nvSpPr>
        <p:spPr>
          <a:xfrm>
            <a:off x="825499" y="2578100"/>
            <a:ext cx="2920999" cy="2019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• Broad slogans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Homogenized tone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Unclear source of truth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Unsupported claims hide in fluent copy</a:t>
            </a:r>
          </a:p>
        </p:txBody>
      </p:sp>
      <p:sp>
        <p:nvSpPr>
          <p:cNvPr id="111" name="BUSINESS COST"/>
          <p:cNvSpPr/>
          <p:nvPr/>
        </p:nvSpPr>
        <p:spPr>
          <a:xfrm>
            <a:off x="4508499" y="2095500"/>
            <a:ext cx="3174999" cy="2603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BUSINESS COST head"/>
          <p:cNvSpPr/>
          <p:nvPr/>
        </p:nvSpPr>
        <p:spPr>
          <a:xfrm>
            <a:off x="4635499" y="2209800"/>
            <a:ext cx="2920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BUSINESS COST</a:t>
            </a:r>
          </a:p>
        </p:txBody>
      </p:sp>
      <p:sp>
        <p:nvSpPr>
          <p:cNvPr id="113" name="BUSINESS COST body"/>
          <p:cNvSpPr/>
          <p:nvPr/>
        </p:nvSpPr>
        <p:spPr>
          <a:xfrm>
            <a:off x="4635499" y="2578100"/>
            <a:ext cx="2920999" cy="2019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• Weak differentiation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Inconsistent brand identity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More reviewer rework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Slower path to approved copy</a:t>
            </a:r>
          </a:p>
        </p:txBody>
      </p:sp>
      <p:sp>
        <p:nvSpPr>
          <p:cNvPr id="114" name="DESIGN RESPONSE"/>
          <p:cNvSpPr/>
          <p:nvPr/>
        </p:nvSpPr>
        <p:spPr>
          <a:xfrm>
            <a:off x="8318499" y="2095500"/>
            <a:ext cx="3174999" cy="2603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DESIGN RESPONSE head"/>
          <p:cNvSpPr/>
          <p:nvPr/>
        </p:nvSpPr>
        <p:spPr>
          <a:xfrm>
            <a:off x="8445499" y="2209800"/>
            <a:ext cx="2920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DESIGN RESPONSE</a:t>
            </a:r>
          </a:p>
        </p:txBody>
      </p:sp>
      <p:sp>
        <p:nvSpPr>
          <p:cNvPr id="116" name="DESIGN RESPONSE body"/>
          <p:cNvSpPr/>
          <p:nvPr/>
        </p:nvSpPr>
        <p:spPr>
          <a:xfrm>
            <a:off x="8445499" y="2578100"/>
            <a:ext cx="2920999" cy="2019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• Two curated knowledge bases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Prompt-level grounding rules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Channel-native templates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• Human review as a hard gate</a:t>
            </a:r>
          </a:p>
        </p:txBody>
      </p:sp>
      <p:sp>
        <p:nvSpPr>
          <p:cNvPr id="117" name="takeaway"/>
          <p:cNvSpPr/>
          <p:nvPr/>
        </p:nvSpPr>
        <p:spPr>
          <a:xfrm>
            <a:off x="952499" y="5207000"/>
            <a:ext cx="10159999" cy="4445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600" b="1">
                <a:solidFill>
                  <a:srgbClr val="F8FAFC"/>
                </a:solidFill>
              </a:rPr>
              <a:t>Distinctive because it is specific, useful and traceable — not because it is “creative” in the abstract.</a:t>
            </a:r>
          </a:p>
        </p:txBody>
      </p:sp>
      <p:sp>
        <p:nvSpPr>
          <p:cNvPr id="118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9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03 / STRATEGY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A small, explicit operating model keeps the prototype honest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Quality, Time and Cost are treated as constraints — not afterthoughts.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QUALITY"/>
          <p:cNvSpPr/>
          <p:nvPr/>
        </p:nvSpPr>
        <p:spPr>
          <a:xfrm>
            <a:off x="660399" y="1968500"/>
            <a:ext cx="3428999" cy="1968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QUALITY head"/>
          <p:cNvSpPr/>
          <p:nvPr/>
        </p:nvSpPr>
        <p:spPr>
          <a:xfrm>
            <a:off x="787399" y="2082800"/>
            <a:ext cx="3174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QUALITY</a:t>
            </a:r>
          </a:p>
        </p:txBody>
      </p:sp>
      <p:sp>
        <p:nvSpPr>
          <p:cNvPr id="110" name="QUALITY body"/>
          <p:cNvSpPr/>
          <p:nvPr/>
        </p:nvSpPr>
        <p:spPr>
          <a:xfrm>
            <a:off x="787399" y="2451100"/>
            <a:ext cx="3174999" cy="1384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Grounded in verified source notes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Distinct channel tone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Claim traceability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Obvious UI states</a:t>
            </a:r>
          </a:p>
        </p:txBody>
      </p:sp>
      <p:sp>
        <p:nvSpPr>
          <p:cNvPr id="111" name="TIME"/>
          <p:cNvSpPr/>
          <p:nvPr/>
        </p:nvSpPr>
        <p:spPr>
          <a:xfrm>
            <a:off x="4381499" y="1968500"/>
            <a:ext cx="3428999" cy="1968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TIME head"/>
          <p:cNvSpPr/>
          <p:nvPr/>
        </p:nvSpPr>
        <p:spPr>
          <a:xfrm>
            <a:off x="4508499" y="2082800"/>
            <a:ext cx="3174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TIME</a:t>
            </a:r>
          </a:p>
        </p:txBody>
      </p:sp>
      <p:sp>
        <p:nvSpPr>
          <p:cNvPr id="113" name="TIME body"/>
          <p:cNvSpPr/>
          <p:nvPr/>
        </p:nvSpPr>
        <p:spPr>
          <a:xfrm>
            <a:off x="4508499" y="2451100"/>
            <a:ext cx="3174999" cy="1384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Two-day end-to-end demo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At most two active cards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Pair/review work protects flow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Day 2 demo path first</a:t>
            </a:r>
          </a:p>
        </p:txBody>
      </p:sp>
      <p:sp>
        <p:nvSpPr>
          <p:cNvPr id="114" name="COST"/>
          <p:cNvSpPr/>
          <p:nvPr/>
        </p:nvSpPr>
        <p:spPr>
          <a:xfrm>
            <a:off x="8102599" y="1968500"/>
            <a:ext cx="3428999" cy="1968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COST head"/>
          <p:cNvSpPr/>
          <p:nvPr/>
        </p:nvSpPr>
        <p:spPr>
          <a:xfrm>
            <a:off x="8229599" y="2082800"/>
            <a:ext cx="3174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COST</a:t>
            </a:r>
          </a:p>
        </p:txBody>
      </p:sp>
      <p:sp>
        <p:nvSpPr>
          <p:cNvPr id="116" name="COST body"/>
          <p:cNvSpPr/>
          <p:nvPr/>
        </p:nvSpPr>
        <p:spPr>
          <a:xfrm>
            <a:off x="8229599" y="2451100"/>
            <a:ext cx="3174999" cy="1384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Configurable model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Bound generation/revision calls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Usage captured when available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Agreed team budget: USD 5</a:t>
            </a:r>
          </a:p>
        </p:txBody>
      </p:sp>
      <p:sp>
        <p:nvSpPr>
          <p:cNvPr id="117" name="stake"/>
          <p:cNvSpPr/>
          <p:nvPr/>
        </p:nvSpPr>
        <p:spPr>
          <a:xfrm>
            <a:off x="660399" y="4445000"/>
            <a:ext cx="10413999" cy="736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300" b="0">
                <a:solidFill>
                  <a:srgbClr val="F8FAFC"/>
                </a:solidFill>
              </a:rPr>
              <a:t>Stakeholders</a:t>
            </a:r>
            <a:endParaRPr lang="en-US"/>
          </a:p>
          <a:p>
            <a:r>
              <a:rPr lang="en-US" sz="1300" b="0">
                <a:solidFill>
                  <a:srgbClr val="F8FAFC"/>
                </a:solidFill>
              </a:rPr>
              <a:t>Sergii · technical lead    Sandra · primary KB owner    Martha · evaluation/usability reviewer</a:t>
            </a:r>
          </a:p>
        </p:txBody>
      </p:sp>
      <p:sp>
        <p:nvSpPr>
          <p:cNvPr id="118" name="risk"/>
          <p:cNvSpPr/>
          <p:nvPr/>
        </p:nvSpPr>
        <p:spPr>
          <a:xfrm>
            <a:off x="660399" y="5461000"/>
            <a:ext cx="10540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Top risk: unsupported or stale claims  →  source-grounding + peer review + approval gate</a:t>
            </a:r>
          </a:p>
        </p:txBody>
      </p:sp>
      <p:sp>
        <p:nvSpPr>
          <p:cNvPr id="119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20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04 / DELIVERY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WBS maps directly to the Kanban path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Planning closure precedes development; the team protects a two-card WIP limit.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PLAN"/>
          <p:cNvSpPr/>
          <p:nvPr/>
        </p:nvSpPr>
        <p:spPr>
          <a:xfrm>
            <a:off x="584199" y="2032000"/>
            <a:ext cx="20319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PLAN head"/>
          <p:cNvSpPr/>
          <p:nvPr/>
        </p:nvSpPr>
        <p:spPr>
          <a:xfrm>
            <a:off x="711199" y="2146299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PLAN</a:t>
            </a:r>
          </a:p>
        </p:txBody>
      </p:sp>
      <p:sp>
        <p:nvSpPr>
          <p:cNvPr id="110" name="PLAN body"/>
          <p:cNvSpPr/>
          <p:nvPr/>
        </p:nvSpPr>
        <p:spPr>
          <a:xfrm>
            <a:off x="711199" y="2514600"/>
            <a:ext cx="17779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1.1 Board alignment</a:t>
            </a:r>
          </a:p>
        </p:txBody>
      </p:sp>
      <p:sp>
        <p:nvSpPr>
          <p:cNvPr id="111" name="KNOWLEDGE"/>
          <p:cNvSpPr/>
          <p:nvPr/>
        </p:nvSpPr>
        <p:spPr>
          <a:xfrm>
            <a:off x="2870199" y="2032000"/>
            <a:ext cx="20319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KNOWLEDGE head"/>
          <p:cNvSpPr/>
          <p:nvPr/>
        </p:nvSpPr>
        <p:spPr>
          <a:xfrm>
            <a:off x="2997199" y="2146299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KNOWLEDGE</a:t>
            </a:r>
          </a:p>
        </p:txBody>
      </p:sp>
      <p:sp>
        <p:nvSpPr>
          <p:cNvPr id="113" name="KNOWLEDGE body"/>
          <p:cNvSpPr/>
          <p:nvPr/>
        </p:nvSpPr>
        <p:spPr>
          <a:xfrm>
            <a:off x="2997199" y="2514600"/>
            <a:ext cx="17779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2.1 Primary KB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2.2 Secondary KB</a:t>
            </a:r>
          </a:p>
        </p:txBody>
      </p:sp>
      <p:sp>
        <p:nvSpPr>
          <p:cNvPr id="114" name="GENERATION"/>
          <p:cNvSpPr/>
          <p:nvPr/>
        </p:nvSpPr>
        <p:spPr>
          <a:xfrm>
            <a:off x="5156199" y="2032000"/>
            <a:ext cx="20319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GENERATION head"/>
          <p:cNvSpPr/>
          <p:nvPr/>
        </p:nvSpPr>
        <p:spPr>
          <a:xfrm>
            <a:off x="5283199" y="2146299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GENERATION</a:t>
            </a:r>
          </a:p>
        </p:txBody>
      </p:sp>
      <p:sp>
        <p:nvSpPr>
          <p:cNvPr id="116" name="GENERATION body"/>
          <p:cNvSpPr/>
          <p:nvPr/>
        </p:nvSpPr>
        <p:spPr>
          <a:xfrm>
            <a:off x="5283199" y="2514600"/>
            <a:ext cx="17779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3.1 Ingestion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3.2 Context + RAG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4.1 OpenAI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4.2 Templates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4.3 Pipeline</a:t>
            </a:r>
          </a:p>
        </p:txBody>
      </p:sp>
      <p:sp>
        <p:nvSpPr>
          <p:cNvPr id="117" name="INTERFACE + EVAL"/>
          <p:cNvSpPr/>
          <p:nvPr/>
        </p:nvSpPr>
        <p:spPr>
          <a:xfrm>
            <a:off x="7442199" y="2032000"/>
            <a:ext cx="20319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8" name="INTERFACE + EVAL head"/>
          <p:cNvSpPr/>
          <p:nvPr/>
        </p:nvSpPr>
        <p:spPr>
          <a:xfrm>
            <a:off x="7569199" y="2146299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INTERFACE + EVAL</a:t>
            </a:r>
          </a:p>
        </p:txBody>
      </p:sp>
      <p:sp>
        <p:nvSpPr>
          <p:cNvPr id="119" name="INTERFACE + EVAL body"/>
          <p:cNvSpPr/>
          <p:nvPr/>
        </p:nvSpPr>
        <p:spPr>
          <a:xfrm>
            <a:off x="7569199" y="2514600"/>
            <a:ext cx="17779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5.1 Streamlit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5.2 Uniqueness</a:t>
            </a:r>
          </a:p>
        </p:txBody>
      </p:sp>
      <p:sp>
        <p:nvSpPr>
          <p:cNvPr id="120" name="DELIVERY"/>
          <p:cNvSpPr/>
          <p:nvPr/>
        </p:nvSpPr>
        <p:spPr>
          <a:xfrm>
            <a:off x="9728199" y="2032000"/>
            <a:ext cx="20319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21" name="DELIVERY head"/>
          <p:cNvSpPr/>
          <p:nvPr/>
        </p:nvSpPr>
        <p:spPr>
          <a:xfrm>
            <a:off x="9855199" y="2146299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86EFAC"/>
                </a:solidFill>
              </a:rPr>
              <a:t>DELIVERY</a:t>
            </a:r>
          </a:p>
        </p:txBody>
      </p:sp>
      <p:sp>
        <p:nvSpPr>
          <p:cNvPr id="122" name="DELIVERY body"/>
          <p:cNvSpPr/>
          <p:nvPr/>
        </p:nvSpPr>
        <p:spPr>
          <a:xfrm>
            <a:off x="9855199" y="2514600"/>
            <a:ext cx="17779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6.1 Runtime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6.2 Docs + demo</a:t>
            </a:r>
          </a:p>
        </p:txBody>
      </p:sp>
      <p:sp>
        <p:nvSpPr>
          <p:cNvPr id="123" name="rule"/>
          <p:cNvSpPr/>
          <p:nvPr/>
        </p:nvSpPr>
        <p:spPr>
          <a:xfrm>
            <a:off x="660399" y="5257800"/>
            <a:ext cx="10667999" cy="355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400" b="1">
                <a:solidFill>
                  <a:srgbClr val="F8FAFC"/>
                </a:solidFill>
              </a:rPr>
              <a:t>Maximum two active cards team-wide; every card needs an owner, reviewer, Must ID and verification evidence.</a:t>
            </a:r>
          </a:p>
        </p:txBody>
      </p:sp>
      <p:sp>
        <p:nvSpPr>
          <p:cNvPr id="124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25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05 / KNOWLEDGE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Two knowledge bases separate authority from context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distinction prevents competitor or trend material from becoming an accidental Patagonia fact.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PRIMARY / PATAGONIA EVIDENCE"/>
          <p:cNvSpPr/>
          <p:nvPr/>
        </p:nvSpPr>
        <p:spPr>
          <a:xfrm>
            <a:off x="660399" y="2057400"/>
            <a:ext cx="43179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PRIMARY / PATAGONIA EVIDENCE head"/>
          <p:cNvSpPr/>
          <p:nvPr/>
        </p:nvSpPr>
        <p:spPr>
          <a:xfrm>
            <a:off x="787399" y="2171700"/>
            <a:ext cx="4063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PRIMARY / PATAGONIA EVIDENCE</a:t>
            </a:r>
          </a:p>
        </p:txBody>
      </p:sp>
      <p:sp>
        <p:nvSpPr>
          <p:cNvPr id="110" name="PRIMARY / PATAGONIA EVIDENCE body"/>
          <p:cNvSpPr/>
          <p:nvPr/>
        </p:nvSpPr>
        <p:spPr>
          <a:xfrm>
            <a:off x="787399" y="2540000"/>
            <a:ext cx="40639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4 Markdown documents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/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Brand voice observations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Published examples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Product facts — style 84212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Care, repair and reuse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/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Authority for Patagonia claims</a:t>
            </a:r>
          </a:p>
        </p:txBody>
      </p:sp>
      <p:sp>
        <p:nvSpPr>
          <p:cNvPr id="111" name="SECONDARY / INDUSTRY CONTEXT"/>
          <p:cNvSpPr/>
          <p:nvPr/>
        </p:nvSpPr>
        <p:spPr>
          <a:xfrm>
            <a:off x="7213599" y="2057400"/>
            <a:ext cx="43179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SECONDARY / INDUSTRY CONTEXT head"/>
          <p:cNvSpPr/>
          <p:nvPr/>
        </p:nvSpPr>
        <p:spPr>
          <a:xfrm>
            <a:off x="7340599" y="2171700"/>
            <a:ext cx="4063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SECONDARY / INDUSTRY CONTEXT</a:t>
            </a:r>
          </a:p>
        </p:txBody>
      </p:sp>
      <p:sp>
        <p:nvSpPr>
          <p:cNvPr id="113" name="SECONDARY / INDUSTRY CONTEXT body"/>
          <p:cNvSpPr/>
          <p:nvPr/>
        </p:nvSpPr>
        <p:spPr>
          <a:xfrm>
            <a:off x="7340599" y="2540000"/>
            <a:ext cx="40639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2 Markdown documents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/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Competitor context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Outdoor participation + textile reuse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/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Positioning input only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Never transfer competitor features or claims to Patagonia</a:t>
            </a:r>
          </a:p>
        </p:txBody>
      </p:sp>
      <p:sp>
        <p:nvSpPr>
          <p:cNvPr id="114" name="flow"/>
          <p:cNvSpPr/>
          <p:nvPr/>
        </p:nvSpPr>
        <p:spPr>
          <a:xfrm>
            <a:off x="1625599" y="5422900"/>
            <a:ext cx="8889999" cy="330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500" b="1">
                <a:solidFill>
                  <a:srgbClr val="F8FAFC"/>
                </a:solidFill>
              </a:rPr>
              <a:t>Markdown → parser → metadata + sections → deterministic context bundle → prompt</a:t>
            </a:r>
          </a:p>
        </p:txBody>
      </p:sp>
      <p:sp>
        <p:nvSpPr>
          <p:cNvPr id="115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6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06 / ARCHITECTURE DECISION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RAG was consciously deferred — and measured conditions are defined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Current implementation: fixed, deterministic context injection. No query-based retrieval, embeddings or vector store.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WHY THIS FITS NOW"/>
          <p:cNvSpPr/>
          <p:nvPr/>
        </p:nvSpPr>
        <p:spPr>
          <a:xfrm>
            <a:off x="660399" y="2006599"/>
            <a:ext cx="32384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WHY THIS FITS NOW head"/>
          <p:cNvSpPr/>
          <p:nvPr/>
        </p:nvSpPr>
        <p:spPr>
          <a:xfrm>
            <a:off x="787399" y="2120900"/>
            <a:ext cx="298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WHY THIS FITS NOW</a:t>
            </a:r>
          </a:p>
        </p:txBody>
      </p:sp>
      <p:sp>
        <p:nvSpPr>
          <p:cNvPr id="110" name="WHY THIS FITS NOW body"/>
          <p:cNvSpPr/>
          <p:nvPr/>
        </p:nvSpPr>
        <p:spPr>
          <a:xfrm>
            <a:off x="787399" y="2489200"/>
            <a:ext cx="29844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Small, stable corpus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Reviewable baseline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Two-day schedule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Bounded source inclusion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Simple failure modes</a:t>
            </a:r>
          </a:p>
        </p:txBody>
      </p:sp>
      <p:sp>
        <p:nvSpPr>
          <p:cNvPr id="111" name="WHAT IS IMPLEMENTED"/>
          <p:cNvSpPr/>
          <p:nvPr/>
        </p:nvSpPr>
        <p:spPr>
          <a:xfrm>
            <a:off x="4470399" y="2006599"/>
            <a:ext cx="32384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WHAT IS IMPLEMENTED head"/>
          <p:cNvSpPr/>
          <p:nvPr/>
        </p:nvSpPr>
        <p:spPr>
          <a:xfrm>
            <a:off x="4597399" y="2120900"/>
            <a:ext cx="298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WHAT IS IMPLEMENTED</a:t>
            </a:r>
          </a:p>
        </p:txBody>
      </p:sp>
      <p:sp>
        <p:nvSpPr>
          <p:cNvPr id="113" name="WHAT IS IMPLEMENTED body"/>
          <p:cNvSpPr/>
          <p:nvPr/>
        </p:nvSpPr>
        <p:spPr>
          <a:xfrm>
            <a:off x="4597399" y="2489200"/>
            <a:ext cx="29844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Loads 6 curated Markdown files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Serializes primary + secondary contexts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14,474 serialized characters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40,000-character guardrail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One smoke-test request: 4,230 tokens</a:t>
            </a:r>
          </a:p>
        </p:txBody>
      </p:sp>
      <p:sp>
        <p:nvSpPr>
          <p:cNvPr id="114" name="WHEN TO REVISIT"/>
          <p:cNvSpPr/>
          <p:nvPr/>
        </p:nvSpPr>
        <p:spPr>
          <a:xfrm>
            <a:off x="8280399" y="2006599"/>
            <a:ext cx="32384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WHEN TO REVISIT head"/>
          <p:cNvSpPr/>
          <p:nvPr/>
        </p:nvSpPr>
        <p:spPr>
          <a:xfrm>
            <a:off x="8407399" y="2120900"/>
            <a:ext cx="298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WHEN TO REVISIT</a:t>
            </a:r>
          </a:p>
        </p:txBody>
      </p:sp>
      <p:sp>
        <p:nvSpPr>
          <p:cNvPr id="116" name="WHEN TO REVISIT body"/>
          <p:cNvSpPr/>
          <p:nvPr/>
        </p:nvSpPr>
        <p:spPr>
          <a:xfrm>
            <a:off x="8407399" y="2489200"/>
            <a:ext cx="29844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Corpus grows or overlaps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Frequent updates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More diverse briefs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Measured token/latency burden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Review burden makes fixed inclusion inefficient</a:t>
            </a:r>
          </a:p>
        </p:txBody>
      </p:sp>
      <p:sp>
        <p:nvSpPr>
          <p:cNvPr id="117" name="decision"/>
          <p:cNvSpPr/>
          <p:nvPr/>
        </p:nvSpPr>
        <p:spPr>
          <a:xfrm>
            <a:off x="1041399" y="5397500"/>
            <a:ext cx="10032999" cy="355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500" b="1">
                <a:solidFill>
                  <a:srgbClr val="F8FAFC"/>
                </a:solidFill>
              </a:rPr>
              <a:t>RAG becomes justified by measured corpus size, request diversity, update frequency and context limits.</a:t>
            </a:r>
          </a:p>
        </p:txBody>
      </p:sp>
      <p:sp>
        <p:nvSpPr>
          <p:cNvPr id="118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9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07 / TECHNICAL FLOW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From Markdown sources to a reviewable draft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pipeline is intentionally inspectable at each boundary.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INGEST"/>
          <p:cNvSpPr/>
          <p:nvPr/>
        </p:nvSpPr>
        <p:spPr>
          <a:xfrm>
            <a:off x="571499" y="2222500"/>
            <a:ext cx="2031999" cy="2159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INGEST head"/>
          <p:cNvSpPr/>
          <p:nvPr/>
        </p:nvSpPr>
        <p:spPr>
          <a:xfrm>
            <a:off x="698499" y="2336800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INGEST</a:t>
            </a:r>
          </a:p>
        </p:txBody>
      </p:sp>
      <p:sp>
        <p:nvSpPr>
          <p:cNvPr id="110" name="INGEST body"/>
          <p:cNvSpPr/>
          <p:nvPr/>
        </p:nvSpPr>
        <p:spPr>
          <a:xfrm>
            <a:off x="698499" y="2705099"/>
            <a:ext cx="1777999" cy="157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document_processor.py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Parse Markdown; validate metadata; preserve sections</a:t>
            </a:r>
          </a:p>
        </p:txBody>
      </p:sp>
      <p:sp>
        <p:nvSpPr>
          <p:cNvPr id="111" name="ASSEMBLE"/>
          <p:cNvSpPr/>
          <p:nvPr/>
        </p:nvSpPr>
        <p:spPr>
          <a:xfrm>
            <a:off x="2857499" y="2222500"/>
            <a:ext cx="2031999" cy="2159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ASSEMBLE head"/>
          <p:cNvSpPr/>
          <p:nvPr/>
        </p:nvSpPr>
        <p:spPr>
          <a:xfrm>
            <a:off x="2984499" y="2336800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ASSEMBLE</a:t>
            </a:r>
          </a:p>
        </p:txBody>
      </p:sp>
      <p:sp>
        <p:nvSpPr>
          <p:cNvPr id="113" name="ASSEMBLE body"/>
          <p:cNvSpPr/>
          <p:nvPr/>
        </p:nvSpPr>
        <p:spPr>
          <a:xfrm>
            <a:off x="2984499" y="2705099"/>
            <a:ext cx="1777999" cy="157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knowledge_base.py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Build deterministic primary + secondary context</a:t>
            </a:r>
          </a:p>
        </p:txBody>
      </p:sp>
      <p:sp>
        <p:nvSpPr>
          <p:cNvPr id="114" name="PROMPT"/>
          <p:cNvSpPr/>
          <p:nvPr/>
        </p:nvSpPr>
        <p:spPr>
          <a:xfrm>
            <a:off x="5143499" y="2222500"/>
            <a:ext cx="2031999" cy="2159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PROMPT head"/>
          <p:cNvSpPr/>
          <p:nvPr/>
        </p:nvSpPr>
        <p:spPr>
          <a:xfrm>
            <a:off x="5270499" y="2336800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PROMPT</a:t>
            </a:r>
          </a:p>
        </p:txBody>
      </p:sp>
      <p:sp>
        <p:nvSpPr>
          <p:cNvPr id="116" name="PROMPT body"/>
          <p:cNvSpPr/>
          <p:nvPr/>
        </p:nvSpPr>
        <p:spPr>
          <a:xfrm>
            <a:off x="5270499" y="2705099"/>
            <a:ext cx="1777999" cy="157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prompt_templates.py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Apply grounding, channel constraints and anti-slop rules</a:t>
            </a:r>
          </a:p>
        </p:txBody>
      </p:sp>
      <p:sp>
        <p:nvSpPr>
          <p:cNvPr id="117" name="GENERATE"/>
          <p:cNvSpPr/>
          <p:nvPr/>
        </p:nvSpPr>
        <p:spPr>
          <a:xfrm>
            <a:off x="7429499" y="2222500"/>
            <a:ext cx="2031999" cy="2159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8" name="GENERATE head"/>
          <p:cNvSpPr/>
          <p:nvPr/>
        </p:nvSpPr>
        <p:spPr>
          <a:xfrm>
            <a:off x="7556499" y="2336800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GENERATE</a:t>
            </a:r>
          </a:p>
        </p:txBody>
      </p:sp>
      <p:sp>
        <p:nvSpPr>
          <p:cNvPr id="119" name="GENERATE body"/>
          <p:cNvSpPr/>
          <p:nvPr/>
        </p:nvSpPr>
        <p:spPr>
          <a:xfrm>
            <a:off x="7556499" y="2705099"/>
            <a:ext cx="1777999" cy="157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llm_integration.py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Call configurable OpenAI model; capture usage</a:t>
            </a:r>
          </a:p>
        </p:txBody>
      </p:sp>
      <p:sp>
        <p:nvSpPr>
          <p:cNvPr id="120" name="REVIEW"/>
          <p:cNvSpPr/>
          <p:nvPr/>
        </p:nvSpPr>
        <p:spPr>
          <a:xfrm>
            <a:off x="9715499" y="2222500"/>
            <a:ext cx="2031999" cy="2159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21" name="REVIEW head"/>
          <p:cNvSpPr/>
          <p:nvPr/>
        </p:nvSpPr>
        <p:spPr>
          <a:xfrm>
            <a:off x="9842499" y="2336800"/>
            <a:ext cx="177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86EFAC"/>
                </a:solidFill>
              </a:rPr>
              <a:t>REVIEW</a:t>
            </a:r>
          </a:p>
        </p:txBody>
      </p:sp>
      <p:sp>
        <p:nvSpPr>
          <p:cNvPr id="122" name="REVIEW body"/>
          <p:cNvSpPr/>
          <p:nvPr/>
        </p:nvSpPr>
        <p:spPr>
          <a:xfrm>
            <a:off x="9842499" y="2705099"/>
            <a:ext cx="1777999" cy="157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content_pipeline.py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Feedback, revision, edit, approval and export</a:t>
            </a:r>
          </a:p>
        </p:txBody>
      </p:sp>
      <p:sp>
        <p:nvSpPr>
          <p:cNvPr id="123" name="gate"/>
          <p:cNvSpPr/>
          <p:nvPr/>
        </p:nvSpPr>
        <p:spPr>
          <a:xfrm>
            <a:off x="660399" y="5080000"/>
            <a:ext cx="10413999" cy="355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400" b="1">
                <a:solidFill>
                  <a:srgbClr val="F8FAFC"/>
                </a:solidFill>
              </a:rPr>
              <a:t>Human gate: the draft cannot become approved/exported content without explicit confirmation of the exact revision.</a:t>
            </a:r>
          </a:p>
        </p:txBody>
      </p:sp>
      <p:sp>
        <p:nvSpPr>
          <p:cNvPr id="124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25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08 / DEMONSTRATION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working application demo follows one visible state machine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Demo path: load campaign → generate → revise/edit → approve → export.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CAMPAIGN"/>
          <p:cNvSpPr/>
          <p:nvPr/>
        </p:nvSpPr>
        <p:spPr>
          <a:xfrm>
            <a:off x="660399" y="2006599"/>
            <a:ext cx="2412999" cy="3111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CAMPAIGN head"/>
          <p:cNvSpPr/>
          <p:nvPr/>
        </p:nvSpPr>
        <p:spPr>
          <a:xfrm>
            <a:off x="787399" y="2120900"/>
            <a:ext cx="2158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CAMPAIGN</a:t>
            </a:r>
          </a:p>
        </p:txBody>
      </p:sp>
      <p:sp>
        <p:nvSpPr>
          <p:cNvPr id="110" name="CAMPAIGN body"/>
          <p:cNvSpPr/>
          <p:nvPr/>
        </p:nvSpPr>
        <p:spPr>
          <a:xfrm>
            <a:off x="787399" y="2489200"/>
            <a:ext cx="2158999" cy="2527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Channel selector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Brief text area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Load campaign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/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Implemented in app.py</a:t>
            </a:r>
          </a:p>
        </p:txBody>
      </p:sp>
      <p:sp>
        <p:nvSpPr>
          <p:cNvPr id="111" name="DRAFT"/>
          <p:cNvSpPr/>
          <p:nvPr/>
        </p:nvSpPr>
        <p:spPr>
          <a:xfrm>
            <a:off x="3390899" y="2006599"/>
            <a:ext cx="2412999" cy="3111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DRAFT head"/>
          <p:cNvSpPr/>
          <p:nvPr/>
        </p:nvSpPr>
        <p:spPr>
          <a:xfrm>
            <a:off x="3517899" y="2120900"/>
            <a:ext cx="2158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DRAFT</a:t>
            </a:r>
          </a:p>
        </p:txBody>
      </p:sp>
      <p:sp>
        <p:nvSpPr>
          <p:cNvPr id="113" name="DRAFT body"/>
          <p:cNvSpPr/>
          <p:nvPr/>
        </p:nvSpPr>
        <p:spPr>
          <a:xfrm>
            <a:off x="3517899" y="2489200"/>
            <a:ext cx="2158999" cy="2527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Generate draft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Channel copy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Reviewer notes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Response metadata</a:t>
            </a:r>
          </a:p>
        </p:txBody>
      </p:sp>
      <p:sp>
        <p:nvSpPr>
          <p:cNvPr id="114" name="REVIEW"/>
          <p:cNvSpPr/>
          <p:nvPr/>
        </p:nvSpPr>
        <p:spPr>
          <a:xfrm>
            <a:off x="6121399" y="2006599"/>
            <a:ext cx="2412999" cy="3111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REVIEW head"/>
          <p:cNvSpPr/>
          <p:nvPr/>
        </p:nvSpPr>
        <p:spPr>
          <a:xfrm>
            <a:off x="6248399" y="2120900"/>
            <a:ext cx="2158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REVIEW</a:t>
            </a:r>
          </a:p>
        </p:txBody>
      </p:sp>
      <p:sp>
        <p:nvSpPr>
          <p:cNvPr id="116" name="REVIEW body"/>
          <p:cNvSpPr/>
          <p:nvPr/>
        </p:nvSpPr>
        <p:spPr>
          <a:xfrm>
            <a:off x="6248399" y="2489200"/>
            <a:ext cx="2158999" cy="2527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Feedback for revision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Manual edit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Save edit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Approval checkbox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Dirty edits block approval</a:t>
            </a:r>
          </a:p>
        </p:txBody>
      </p:sp>
      <p:sp>
        <p:nvSpPr>
          <p:cNvPr id="117" name="EXPORT"/>
          <p:cNvSpPr/>
          <p:nvPr/>
        </p:nvSpPr>
        <p:spPr>
          <a:xfrm>
            <a:off x="8851899" y="2006599"/>
            <a:ext cx="2666999" cy="3111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8" name="EXPORT head"/>
          <p:cNvSpPr/>
          <p:nvPr/>
        </p:nvSpPr>
        <p:spPr>
          <a:xfrm>
            <a:off x="8978899" y="2120900"/>
            <a:ext cx="2412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EXPORT</a:t>
            </a:r>
          </a:p>
        </p:txBody>
      </p:sp>
      <p:sp>
        <p:nvSpPr>
          <p:cNvPr id="119" name="EXPORT body"/>
          <p:cNvSpPr/>
          <p:nvPr/>
        </p:nvSpPr>
        <p:spPr>
          <a:xfrm>
            <a:off x="8978899" y="2489200"/>
            <a:ext cx="2412999" cy="2527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Approve exact revision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Download Markdown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Download JSON metadata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Human action required</a:t>
            </a:r>
          </a:p>
        </p:txBody>
      </p:sp>
      <p:sp>
        <p:nvSpPr>
          <p:cNvPr id="120" name="status"/>
          <p:cNvSpPr/>
          <p:nvPr/>
        </p:nvSpPr>
        <p:spPr>
          <a:xfrm>
            <a:off x="698499" y="5524500"/>
            <a:ext cx="10794999" cy="355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200" b="0">
                <a:solidFill>
                  <a:srgbClr val="A8B5C7"/>
                </a:solidFill>
              </a:rPr>
              <a:t>Evidence status: Instagram path manually verified; LinkedIn/email live checks pending. No application screenshot is present in the repository.</a:t>
            </a:r>
          </a:p>
        </p:txBody>
      </p:sp>
      <p:sp>
        <p:nvSpPr>
          <p:cNvPr id="121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22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09 / UNIQUENESS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evaluation shows why context beats generic fluency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evidence is a first-pass fixture comparison, not a claim about live model performance.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GENERIC FIXTURE — FAILED"/>
          <p:cNvSpPr/>
          <p:nvPr/>
        </p:nvSpPr>
        <p:spPr>
          <a:xfrm>
            <a:off x="698499" y="2095500"/>
            <a:ext cx="45084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GENERIC FIXTURE — FAILED head"/>
          <p:cNvSpPr/>
          <p:nvPr/>
        </p:nvSpPr>
        <p:spPr>
          <a:xfrm>
            <a:off x="825499" y="2209800"/>
            <a:ext cx="425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GENERIC FIXTURE — FAILED</a:t>
            </a:r>
          </a:p>
        </p:txBody>
      </p:sp>
      <p:sp>
        <p:nvSpPr>
          <p:cNvPr id="110" name="GENERIC FIXTURE — FAILED body"/>
          <p:cNvSpPr/>
          <p:nvPr/>
        </p:nvSpPr>
        <p:spPr>
          <a:xfrm>
            <a:off x="825499" y="2578100"/>
            <a:ext cx="42544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“Elevate your everyday adventure with a game-changer.”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/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Patagonia context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Flags: “elevate your” + “game-changer”</a:t>
            </a:r>
          </a:p>
        </p:txBody>
      </p:sp>
      <p:sp>
        <p:nvSpPr>
          <p:cNvPr id="111" name="CONTEXTUAL FIXTURE — PASSED"/>
          <p:cNvSpPr/>
          <p:nvPr/>
        </p:nvSpPr>
        <p:spPr>
          <a:xfrm>
            <a:off x="6984999" y="2095500"/>
            <a:ext cx="4508499" cy="2794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CONTEXTUAL FIXTURE — PASSED head"/>
          <p:cNvSpPr/>
          <p:nvPr/>
        </p:nvSpPr>
        <p:spPr>
          <a:xfrm>
            <a:off x="7111999" y="2209800"/>
            <a:ext cx="425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CONTEXTUAL FIXTURE — PASSED</a:t>
            </a:r>
          </a:p>
        </p:txBody>
      </p:sp>
      <p:sp>
        <p:nvSpPr>
          <p:cNvPr id="113" name="CONTEXTUAL FIXTURE — PASSED body"/>
          <p:cNvSpPr/>
          <p:nvPr/>
        </p:nvSpPr>
        <p:spPr>
          <a:xfrm>
            <a:off x="7111999" y="2578100"/>
            <a:ext cx="4254499" cy="2209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Names the Nano Puff jacket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Connects to a changing forecast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Includes repair + reuse guidance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flagged generic phrases</a:t>
            </a:r>
          </a:p>
        </p:txBody>
      </p:sp>
      <p:sp>
        <p:nvSpPr>
          <p:cNvPr id="114" name="contract"/>
          <p:cNvSpPr/>
          <p:nvPr/>
        </p:nvSpPr>
        <p:spPr>
          <a:xfrm>
            <a:off x="698499" y="5308600"/>
            <a:ext cx="10540999" cy="2794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400" b="1">
                <a:solidFill>
                  <a:srgbClr val="F8FAFC"/>
                </a:solidFill>
              </a:rPr>
              <a:t>Specificity  ·  Productive tension  ·  Channel-native writing  ·  Anti-slop control</a:t>
            </a:r>
          </a:p>
        </p:txBody>
      </p:sp>
      <p:sp>
        <p:nvSpPr>
          <p:cNvPr id="115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6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10 / PROMPTING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Advanced prompting turns brand intent into testable constraints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system does not ask the model to “be creative”; it specifies what good looks like and what must not happen.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GROUNDING"/>
          <p:cNvSpPr/>
          <p:nvPr/>
        </p:nvSpPr>
        <p:spPr>
          <a:xfrm>
            <a:off x="660399" y="2006599"/>
            <a:ext cx="3428999" cy="2984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GROUNDING head"/>
          <p:cNvSpPr/>
          <p:nvPr/>
        </p:nvSpPr>
        <p:spPr>
          <a:xfrm>
            <a:off x="787399" y="2120900"/>
            <a:ext cx="3174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GROUNDING</a:t>
            </a:r>
          </a:p>
        </p:txBody>
      </p:sp>
      <p:sp>
        <p:nvSpPr>
          <p:cNvPr id="110" name="GROUNDING body"/>
          <p:cNvSpPr/>
          <p:nvPr/>
        </p:nvSpPr>
        <p:spPr>
          <a:xfrm>
            <a:off x="787399" y="2489200"/>
            <a:ext cx="3174999" cy="2400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Primary is authoritative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Secondary is positioning only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Separate facts from interpretation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Preserve limitations and dates</a:t>
            </a:r>
          </a:p>
        </p:txBody>
      </p:sp>
      <p:sp>
        <p:nvSpPr>
          <p:cNvPr id="111" name="CHANNEL SHAPE"/>
          <p:cNvSpPr/>
          <p:nvPr/>
        </p:nvSpPr>
        <p:spPr>
          <a:xfrm>
            <a:off x="4381499" y="2006599"/>
            <a:ext cx="3428999" cy="2984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CHANNEL SHAPE head"/>
          <p:cNvSpPr/>
          <p:nvPr/>
        </p:nvSpPr>
        <p:spPr>
          <a:xfrm>
            <a:off x="4508499" y="2120900"/>
            <a:ext cx="3174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CHANNEL SHAPE</a:t>
            </a:r>
          </a:p>
        </p:txBody>
      </p:sp>
      <p:sp>
        <p:nvSpPr>
          <p:cNvPr id="113" name="CHANNEL SHAPE body"/>
          <p:cNvSpPr/>
          <p:nvPr/>
        </p:nvSpPr>
        <p:spPr>
          <a:xfrm>
            <a:off x="4508499" y="2489200"/>
            <a:ext cx="3174999" cy="2400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Instagram: 60–120 words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LinkedIn: 120–200 words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Email: subject/preheader/body limits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One CTA; format-native rhythm</a:t>
            </a:r>
          </a:p>
        </p:txBody>
      </p:sp>
      <p:sp>
        <p:nvSpPr>
          <p:cNvPr id="114" name="ANTI-SLOP"/>
          <p:cNvSpPr/>
          <p:nvPr/>
        </p:nvSpPr>
        <p:spPr>
          <a:xfrm>
            <a:off x="8102599" y="2006599"/>
            <a:ext cx="3428999" cy="2984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ANTI-SLOP head"/>
          <p:cNvSpPr/>
          <p:nvPr/>
        </p:nvSpPr>
        <p:spPr>
          <a:xfrm>
            <a:off x="8229599" y="2120900"/>
            <a:ext cx="3174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ANTI-SLOP</a:t>
            </a:r>
          </a:p>
        </p:txBody>
      </p:sp>
      <p:sp>
        <p:nvSpPr>
          <p:cNvPr id="116" name="ANTI-SLOP body"/>
          <p:cNvSpPr/>
          <p:nvPr/>
        </p:nvSpPr>
        <p:spPr>
          <a:xfrm>
            <a:off x="8229599" y="2489200"/>
            <a:ext cx="3174999" cy="2400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Avoid cliches and superlatives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vague sustainability claims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invented facts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Return copy + reviewer notes</a:t>
            </a:r>
          </a:p>
        </p:txBody>
      </p:sp>
      <p:sp>
        <p:nvSpPr>
          <p:cNvPr id="117" name="inspectable"/>
          <p:cNvSpPr/>
          <p:nvPr/>
        </p:nvSpPr>
        <p:spPr>
          <a:xfrm>
            <a:off x="1015999" y="5397500"/>
            <a:ext cx="10159999" cy="330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400" b="1">
                <a:solidFill>
                  <a:srgbClr val="F8FAFC"/>
                </a:solidFill>
              </a:rPr>
              <a:t>Prompt output is inspectable: source paths/URLs, facts used, interpretations and unresolved limitations.</a:t>
            </a:r>
          </a:p>
        </p:txBody>
      </p:sp>
      <p:sp>
        <p:nvSpPr>
          <p:cNvPr id="118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9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11 / IMPLEMENTATION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technical spine is small enough to inspect end-to-end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Repository structure, configuration and AGENTS.md are part of the product discipline.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DOCUMENT PROCESSING"/>
          <p:cNvSpPr/>
          <p:nvPr/>
        </p:nvSpPr>
        <p:spPr>
          <a:xfrm>
            <a:off x="660399" y="1968500"/>
            <a:ext cx="3238499" cy="3238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DOCUMENT PROCESSING head"/>
          <p:cNvSpPr/>
          <p:nvPr/>
        </p:nvSpPr>
        <p:spPr>
          <a:xfrm>
            <a:off x="787399" y="2082800"/>
            <a:ext cx="298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DOCUMENT PROCESSING</a:t>
            </a:r>
          </a:p>
        </p:txBody>
      </p:sp>
      <p:sp>
        <p:nvSpPr>
          <p:cNvPr id="110" name="DOCUMENT PROCESSING body"/>
          <p:cNvSpPr/>
          <p:nvPr/>
        </p:nvSpPr>
        <p:spPr>
          <a:xfrm>
            <a:off x="787399" y="2451100"/>
            <a:ext cx="2984499" cy="2654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src/document_processor.py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MarkdownIt parser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Required metadata schema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Heading-path sections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Source URLs + access dates</a:t>
            </a:r>
          </a:p>
        </p:txBody>
      </p:sp>
      <p:sp>
        <p:nvSpPr>
          <p:cNvPr id="111" name="INTEGRATION"/>
          <p:cNvSpPr/>
          <p:nvPr/>
        </p:nvSpPr>
        <p:spPr>
          <a:xfrm>
            <a:off x="4470399" y="1968500"/>
            <a:ext cx="3238499" cy="3238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INTEGRATION head"/>
          <p:cNvSpPr/>
          <p:nvPr/>
        </p:nvSpPr>
        <p:spPr>
          <a:xfrm>
            <a:off x="4597399" y="2082800"/>
            <a:ext cx="298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60A5FA"/>
                </a:solidFill>
              </a:rPr>
              <a:t>INTEGRATION</a:t>
            </a:r>
          </a:p>
        </p:txBody>
      </p:sp>
      <p:sp>
        <p:nvSpPr>
          <p:cNvPr id="113" name="INTEGRATION body"/>
          <p:cNvSpPr/>
          <p:nvPr/>
        </p:nvSpPr>
        <p:spPr>
          <a:xfrm>
            <a:off x="4597399" y="2451100"/>
            <a:ext cx="2984499" cy="2654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src/llm_integration.py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OPENAI_API_KEY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OPENAI_MODEL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Usage capture when available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secrets logged</a:t>
            </a:r>
          </a:p>
        </p:txBody>
      </p:sp>
      <p:sp>
        <p:nvSpPr>
          <p:cNvPr id="114" name="DELIVERY SURFACE"/>
          <p:cNvSpPr/>
          <p:nvPr/>
        </p:nvSpPr>
        <p:spPr>
          <a:xfrm>
            <a:off x="8280399" y="1968500"/>
            <a:ext cx="3238499" cy="3238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DELIVERY SURFACE head"/>
          <p:cNvSpPr/>
          <p:nvPr/>
        </p:nvSpPr>
        <p:spPr>
          <a:xfrm>
            <a:off x="8407399" y="2082800"/>
            <a:ext cx="2984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DELIVERY SURFACE</a:t>
            </a:r>
          </a:p>
        </p:txBody>
      </p:sp>
      <p:sp>
        <p:nvSpPr>
          <p:cNvPr id="116" name="DELIVERY SURFACE body"/>
          <p:cNvSpPr/>
          <p:nvPr/>
        </p:nvSpPr>
        <p:spPr>
          <a:xfrm>
            <a:off x="8407399" y="2451100"/>
            <a:ext cx="2984499" cy="26543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app.py — Streamlit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src/main.py — CLI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templates/*.md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outputs/ — approved exports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tests/ — automated checks</a:t>
            </a:r>
          </a:p>
        </p:txBody>
      </p:sp>
      <p:sp>
        <p:nvSpPr>
          <p:cNvPr id="117" name="agents"/>
          <p:cNvSpPr/>
          <p:nvPr/>
        </p:nvSpPr>
        <p:spPr>
          <a:xfrm>
            <a:off x="761999" y="5524500"/>
            <a:ext cx="10667999" cy="355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300" b="1">
                <a:solidFill>
                  <a:srgbClr val="F8FAFC"/>
                </a:solidFill>
              </a:rPr>
              <a:t>AGENTS.md keeps scope explicit: Must IDs M1–M8, human approval, no fabricated facts, no secrets and no unapproved scope expansion.</a:t>
            </a:r>
          </a:p>
        </p:txBody>
      </p:sp>
      <p:sp>
        <p:nvSpPr>
          <p:cNvPr id="118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9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12 / LEARNING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The hard parts were control problems, not syntax problems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project’s solutions are boundary decisions: what to include, what to exclude, and how to prove it.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CHALLENGE"/>
          <p:cNvSpPr/>
          <p:nvPr/>
        </p:nvSpPr>
        <p:spPr>
          <a:xfrm>
            <a:off x="660399" y="2006599"/>
            <a:ext cx="33654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CHALLENGE head"/>
          <p:cNvSpPr/>
          <p:nvPr/>
        </p:nvSpPr>
        <p:spPr>
          <a:xfrm>
            <a:off x="787399" y="2120900"/>
            <a:ext cx="3111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CHALLENGE</a:t>
            </a:r>
          </a:p>
        </p:txBody>
      </p:sp>
      <p:sp>
        <p:nvSpPr>
          <p:cNvPr id="110" name="CHALLENGE body"/>
          <p:cNvSpPr/>
          <p:nvPr/>
        </p:nvSpPr>
        <p:spPr>
          <a:xfrm>
            <a:off x="787399" y="2489200"/>
            <a:ext cx="31114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Grounding without retrieval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Small corpus, mixed authority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Risk of context leakage</a:t>
            </a:r>
          </a:p>
        </p:txBody>
      </p:sp>
      <p:sp>
        <p:nvSpPr>
          <p:cNvPr id="111" name="SOLUTION"/>
          <p:cNvSpPr/>
          <p:nvPr/>
        </p:nvSpPr>
        <p:spPr>
          <a:xfrm>
            <a:off x="4406899" y="2006599"/>
            <a:ext cx="33654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SOLUTION head"/>
          <p:cNvSpPr/>
          <p:nvPr/>
        </p:nvSpPr>
        <p:spPr>
          <a:xfrm>
            <a:off x="4533899" y="2120900"/>
            <a:ext cx="3111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SOLUTION</a:t>
            </a:r>
          </a:p>
        </p:txBody>
      </p:sp>
      <p:sp>
        <p:nvSpPr>
          <p:cNvPr id="113" name="SOLUTION body"/>
          <p:cNvSpPr/>
          <p:nvPr/>
        </p:nvSpPr>
        <p:spPr>
          <a:xfrm>
            <a:off x="4533899" y="2489200"/>
            <a:ext cx="31114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Separate primary/secondary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Deterministic bundle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Metadata + section traceability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Measured revisit conditions</a:t>
            </a:r>
          </a:p>
        </p:txBody>
      </p:sp>
      <p:sp>
        <p:nvSpPr>
          <p:cNvPr id="114" name="LESSON"/>
          <p:cNvSpPr/>
          <p:nvPr/>
        </p:nvSpPr>
        <p:spPr>
          <a:xfrm>
            <a:off x="8153399" y="2006599"/>
            <a:ext cx="3365499" cy="29210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LESSON head"/>
          <p:cNvSpPr/>
          <p:nvPr/>
        </p:nvSpPr>
        <p:spPr>
          <a:xfrm>
            <a:off x="8280399" y="2120900"/>
            <a:ext cx="3111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LESSON</a:t>
            </a:r>
          </a:p>
        </p:txBody>
      </p:sp>
      <p:sp>
        <p:nvSpPr>
          <p:cNvPr id="116" name="LESSON body"/>
          <p:cNvSpPr/>
          <p:nvPr/>
        </p:nvSpPr>
        <p:spPr>
          <a:xfrm>
            <a:off x="8280399" y="2489200"/>
            <a:ext cx="3111499" cy="2336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Do not infer RAG need from hype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Do not call a fixture a benchmark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Human review remains part of the system</a:t>
            </a:r>
          </a:p>
        </p:txBody>
      </p:sp>
      <p:sp>
        <p:nvSpPr>
          <p:cNvPr id="117" name="lesson"/>
          <p:cNvSpPr/>
          <p:nvPr/>
        </p:nvSpPr>
        <p:spPr>
          <a:xfrm>
            <a:off x="1079499" y="5397500"/>
            <a:ext cx="10032999" cy="330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500" b="1">
                <a:solidFill>
                  <a:srgbClr val="F8FAFC"/>
                </a:solidFill>
              </a:rPr>
              <a:t>A strong prototype can say “not measured yet” — as long as it records what would change the decision.</a:t>
            </a:r>
          </a:p>
        </p:txBody>
      </p:sp>
      <p:sp>
        <p:nvSpPr>
          <p:cNvPr id="118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9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14.xml><?xml version="1.0" encoding="utf-8"?>
<p:sld xmlns:ns0="http://schemas.openxmlformats.org/officeDocument/2006/relationships"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13 / KANBAN EVIDENCE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Day 1 made the work visible; Day 2 turned it into a demo path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Actual Day 1 board evidence is preserved in the repository.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09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  <p:sp>
        <p:nvSpPr>
          <p:cNvPr id="110" name="note"/>
          <p:cNvSpPr/>
          <p:nvPr/>
        </p:nvSpPr>
        <p:spPr>
          <a:xfrm>
            <a:off x="7365999" y="1968500"/>
            <a:ext cx="4127499" cy="1714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1" name="h"/>
          <p:cNvSpPr/>
          <p:nvPr/>
        </p:nvSpPr>
        <p:spPr>
          <a:xfrm>
            <a:off x="7492999" y="2082800"/>
            <a:ext cx="3873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DAY 1 — VERIFIED</a:t>
            </a:r>
          </a:p>
        </p:txBody>
      </p:sp>
      <p:sp>
        <p:nvSpPr>
          <p:cNvPr id="112" name="b"/>
          <p:cNvSpPr/>
          <p:nvPr/>
        </p:nvSpPr>
        <p:spPr>
          <a:xfrm>
            <a:off x="7492999" y="2489200"/>
            <a:ext cx="3873499" cy="1016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Planning, KBs, loader, context injection, templates, offline integration, live Instagram smoke test; 62 offline tests passed.</a:t>
            </a:r>
          </a:p>
        </p:txBody>
      </p:sp>
      <p:sp>
        <p:nvSpPr>
          <p:cNvPr id="113" name="note2"/>
          <p:cNvSpPr/>
          <p:nvPr/>
        </p:nvSpPr>
        <p:spPr>
          <a:xfrm>
            <a:off x="7365999" y="4000500"/>
            <a:ext cx="4127499" cy="1714500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4" name="h2"/>
          <p:cNvSpPr/>
          <p:nvPr/>
        </p:nvSpPr>
        <p:spPr>
          <a:xfrm>
            <a:off x="7492999" y="4114800"/>
            <a:ext cx="38734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DAY 2 — TARGET / STATUS</a:t>
            </a:r>
          </a:p>
        </p:txBody>
      </p:sp>
      <p:sp>
        <p:nvSpPr>
          <p:cNvPr id="115" name="b2"/>
          <p:cNvSpPr/>
          <p:nvPr/>
        </p:nvSpPr>
        <p:spPr>
          <a:xfrm>
            <a:off x="7492999" y="4521199"/>
            <a:ext cx="3873499" cy="1016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Pipeline, UI, review/export, evaluation, docs and presentation. Instagram path manually verified; LinkedIn/email live checks remain pending.</a:t>
            </a:r>
          </a:p>
        </p:txBody>
      </p:sp>
      <p:pic>
        <p:nvPicPr>
          <p:cNvPr id="916" name="kanban evidence"/>
          <p:cNvPicPr/>
          <p:nvPr/>
        </p:nvPicPr>
        <p:blipFill>
          <a:blip ns0:embed="rId2"/>
          <a:stretch>
            <a:fillRect/>
          </a:stretch>
        </p:blipFill>
        <p:spPr>
          <a:xfrm>
            <a:off x="698499" y="1905000"/>
            <a:ext cx="6159499" cy="3810000"/>
          </a:xfrm>
          <a:prstGeom prst="rect">
            <a:avLst/>
          </a:prstGeom>
        </p:spPr>
      </p:pic>
      <p:sp>
        <p:nvSpPr>
          <p:cNvPr id="117" name="source"/>
          <p:cNvSpPr/>
          <p:nvPr/>
        </p:nvSpPr>
        <p:spPr>
          <a:xfrm>
            <a:off x="698499" y="5867399"/>
            <a:ext cx="6159499" cy="2286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0">
                <a:solidFill>
                  <a:srgbClr val="A8B5C7"/>
                </a:solidFill>
              </a:rPr>
              <a:t>Screenshot source: docs/evidence/p2-kanban-day1.png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eyebrow"/>
          <p:cNvSpPr/>
          <p:nvPr/>
        </p:nvSpPr>
        <p:spPr>
          <a:xfrm>
            <a:off x="533399" y="279400"/>
            <a:ext cx="10159999" cy="203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900" b="1">
                <a:solidFill>
                  <a:srgbClr val="5EEAD4"/>
                </a:solidFill>
              </a:rPr>
              <a:t>14 / OUTCOMES</a:t>
            </a:r>
          </a:p>
        </p:txBody>
      </p:sp>
      <p:sp>
        <p:nvSpPr>
          <p:cNvPr id="105" name="title"/>
          <p:cNvSpPr/>
          <p:nvPr/>
        </p:nvSpPr>
        <p:spPr>
          <a:xfrm>
            <a:off x="533399" y="533400"/>
            <a:ext cx="11048999" cy="508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2600" b="1">
                <a:solidFill>
                  <a:srgbClr val="F8FAFC"/>
                </a:solidFill>
              </a:rPr>
              <a:t>What exists now — and what remains deliberately open</a:t>
            </a:r>
          </a:p>
        </p:txBody>
      </p:sp>
      <p:sp>
        <p:nvSpPr>
          <p:cNvPr id="106" name="subtitle"/>
          <p:cNvSpPr/>
          <p:nvPr/>
        </p:nvSpPr>
        <p:spPr>
          <a:xfrm>
            <a:off x="533399" y="1117600"/>
            <a:ext cx="11048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100" b="0">
                <a:solidFill>
                  <a:srgbClr val="A8B5C7"/>
                </a:solidFill>
              </a:rPr>
              <a:t>The outcome is a grounded, reviewable prototype with a clear next decision set.</a:t>
            </a:r>
          </a:p>
        </p:txBody>
      </p:sp>
      <p:sp>
        <p:nvSpPr>
          <p:cNvPr id="107" name="accent"/>
          <p:cNvSpPr/>
          <p:nvPr/>
        </p:nvSpPr>
        <p:spPr>
          <a:xfrm>
            <a:off x="533399" y="1549400"/>
            <a:ext cx="990599" cy="50800"/>
          </a:xfrm>
          <a:prstGeom prst="rect">
            <a:avLst/>
          </a:prstGeom>
          <a:solidFill>
            <a:srgbClr val="5EEAD4"/>
          </a:solidFill>
          <a:ln w="12000">
            <a:noFill/>
          </a:ln>
        </p:spPr>
      </p:sp>
      <p:sp>
        <p:nvSpPr>
          <p:cNvPr id="108" name="IMPLEMENTED"/>
          <p:cNvSpPr/>
          <p:nvPr/>
        </p:nvSpPr>
        <p:spPr>
          <a:xfrm>
            <a:off x="660399" y="1968500"/>
            <a:ext cx="3301999" cy="3047999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09" name="IMPLEMENTED head"/>
          <p:cNvSpPr/>
          <p:nvPr/>
        </p:nvSpPr>
        <p:spPr>
          <a:xfrm>
            <a:off x="787399" y="2082800"/>
            <a:ext cx="304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5EEAD4"/>
                </a:solidFill>
              </a:rPr>
              <a:t>IMPLEMENTED</a:t>
            </a:r>
          </a:p>
        </p:txBody>
      </p:sp>
      <p:sp>
        <p:nvSpPr>
          <p:cNvPr id="110" name="IMPLEMENTED body"/>
          <p:cNvSpPr/>
          <p:nvPr/>
        </p:nvSpPr>
        <p:spPr>
          <a:xfrm>
            <a:off x="787399" y="2451100"/>
            <a:ext cx="3047999" cy="2463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Two KBs + metadata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Deterministic context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Three channel templates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OpenAI integration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CLI + Streamlit flow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Human approval/export</a:t>
            </a:r>
          </a:p>
        </p:txBody>
      </p:sp>
      <p:sp>
        <p:nvSpPr>
          <p:cNvPr id="111" name="LIMITATIONS"/>
          <p:cNvSpPr/>
          <p:nvPr/>
        </p:nvSpPr>
        <p:spPr>
          <a:xfrm>
            <a:off x="4444999" y="1968500"/>
            <a:ext cx="3301999" cy="3047999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2" name="LIMITATIONS head"/>
          <p:cNvSpPr/>
          <p:nvPr/>
        </p:nvSpPr>
        <p:spPr>
          <a:xfrm>
            <a:off x="4571999" y="2082800"/>
            <a:ext cx="304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7185"/>
                </a:solidFill>
              </a:rPr>
              <a:t>LIMITATIONS</a:t>
            </a:r>
          </a:p>
        </p:txBody>
      </p:sp>
      <p:sp>
        <p:nvSpPr>
          <p:cNvPr id="113" name="LIMITATIONS body"/>
          <p:cNvSpPr/>
          <p:nvPr/>
        </p:nvSpPr>
        <p:spPr>
          <a:xfrm>
            <a:off x="4571999" y="2451100"/>
            <a:ext cx="3047999" cy="2463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No RAG / vector store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automated publishing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auth/database/scheduling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Cost not calculated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LinkedIn/email live checks pending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No production deployment evidence</a:t>
            </a:r>
          </a:p>
        </p:txBody>
      </p:sp>
      <p:sp>
        <p:nvSpPr>
          <p:cNvPr id="114" name="NEXT DEVELOPMENT"/>
          <p:cNvSpPr/>
          <p:nvPr/>
        </p:nvSpPr>
        <p:spPr>
          <a:xfrm>
            <a:off x="8229599" y="1968500"/>
            <a:ext cx="3301999" cy="3047999"/>
          </a:xfrm>
          <a:prstGeom prst="roundRect">
            <a:avLst/>
          </a:prstGeom>
          <a:solidFill>
            <a:srgbClr val="111C2E"/>
          </a:solidFill>
          <a:ln w="12000">
            <a:solidFill>
              <a:srgbClr val="263650"/>
            </a:solidFill>
          </a:ln>
        </p:spPr>
      </p:sp>
      <p:sp>
        <p:nvSpPr>
          <p:cNvPr id="115" name="NEXT DEVELOPMENT head"/>
          <p:cNvSpPr/>
          <p:nvPr/>
        </p:nvSpPr>
        <p:spPr>
          <a:xfrm>
            <a:off x="8356599" y="2082800"/>
            <a:ext cx="3047999" cy="2921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400" b="1">
                <a:solidFill>
                  <a:srgbClr val="FBBF24"/>
                </a:solidFill>
              </a:rPr>
              <a:t>NEXT DEVELOPMENT</a:t>
            </a:r>
          </a:p>
        </p:txBody>
      </p:sp>
      <p:sp>
        <p:nvSpPr>
          <p:cNvPr id="116" name="NEXT DEVELOPMENT body"/>
          <p:cNvSpPr/>
          <p:nvPr/>
        </p:nvSpPr>
        <p:spPr>
          <a:xfrm>
            <a:off x="8356599" y="2451100"/>
            <a:ext cx="3047999" cy="2463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1000" b="0">
                <a:solidFill>
                  <a:srgbClr val="F8FAFC"/>
                </a:solidFill>
              </a:rPr>
              <a:t>Preserve live generic/contextual outputs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Measure repeated-request burden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Revisit retrieval when evidence says so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Add broader runtime validation</a:t>
            </a:r>
            <a:endParaRPr lang="en-US"/>
          </a:p>
          <a:p>
            <a:r>
              <a:rPr lang="en-US" sz="1000" b="0">
                <a:solidFill>
                  <a:srgbClr val="F8FAFC"/>
                </a:solidFill>
              </a:rPr>
              <a:t>Capture application screenshots</a:t>
            </a:r>
          </a:p>
        </p:txBody>
      </p:sp>
      <p:sp>
        <p:nvSpPr>
          <p:cNvPr id="117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</a:t>
            </a:r>
          </a:p>
        </p:txBody>
      </p:sp>
      <p:sp>
        <p:nvSpPr>
          <p:cNvPr id="118" name="number"/>
          <p:cNvSpPr/>
          <p:nvPr/>
        </p:nvSpPr>
        <p:spPr>
          <a:xfrm>
            <a:off x="11302999" y="6413500"/>
            <a:ext cx="3555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r"/>
            <a:r>
              <a:rPr lang="en-US" sz="800" b="0">
                <a:solidFill>
                  <a:srgbClr val="A8B5C7"/>
                </a:solidFill>
              </a:rPr>
              <a:t>16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Shapes"/>
        <p:cNvGrpSpPr/>
        <p:nvPr/>
      </p:nvGrpSpPr>
      <p:grpSpPr/>
      <p:sp>
        <p:nvSpPr>
          <p:cNvPr id="103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 w="12000">
            <a:noFill/>
          </a:ln>
        </p:spPr>
      </p:sp>
      <p:sp>
        <p:nvSpPr>
          <p:cNvPr id="104" name="brand"/>
          <p:cNvSpPr/>
          <p:nvPr/>
        </p:nvSpPr>
        <p:spPr>
          <a:xfrm>
            <a:off x="1054099" y="2286000"/>
            <a:ext cx="1650999" cy="254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100" b="1">
                <a:solidFill>
                  <a:srgbClr val="5EEAD4"/>
                </a:solidFill>
              </a:rPr>
              <a:t>BRIEF</a:t>
            </a:r>
          </a:p>
        </p:txBody>
      </p:sp>
      <p:sp>
        <p:nvSpPr>
          <p:cNvPr id="105" name="ground"/>
          <p:cNvSpPr/>
          <p:nvPr/>
        </p:nvSpPr>
        <p:spPr>
          <a:xfrm>
            <a:off x="3301999" y="2286000"/>
            <a:ext cx="1650999" cy="254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100" b="1">
                <a:solidFill>
                  <a:srgbClr val="60A5FA"/>
                </a:solidFill>
              </a:rPr>
              <a:t>GROUND</a:t>
            </a:r>
          </a:p>
        </p:txBody>
      </p:sp>
      <p:sp>
        <p:nvSpPr>
          <p:cNvPr id="106" name="draft"/>
          <p:cNvSpPr/>
          <p:nvPr/>
        </p:nvSpPr>
        <p:spPr>
          <a:xfrm>
            <a:off x="5562599" y="2286000"/>
            <a:ext cx="1650999" cy="254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100" b="1">
                <a:solidFill>
                  <a:srgbClr val="FBBF24"/>
                </a:solidFill>
              </a:rPr>
              <a:t>DRAFT</a:t>
            </a:r>
          </a:p>
        </p:txBody>
      </p:sp>
      <p:sp>
        <p:nvSpPr>
          <p:cNvPr id="107" name="review"/>
          <p:cNvSpPr/>
          <p:nvPr/>
        </p:nvSpPr>
        <p:spPr>
          <a:xfrm>
            <a:off x="7810499" y="2286000"/>
            <a:ext cx="1650999" cy="254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100" b="1">
                <a:solidFill>
                  <a:srgbClr val="FB7185"/>
                </a:solidFill>
              </a:rPr>
              <a:t>REVIEW</a:t>
            </a:r>
          </a:p>
        </p:txBody>
      </p:sp>
      <p:sp>
        <p:nvSpPr>
          <p:cNvPr id="108" name="approve"/>
          <p:cNvSpPr/>
          <p:nvPr/>
        </p:nvSpPr>
        <p:spPr>
          <a:xfrm>
            <a:off x="10058399" y="2286000"/>
            <a:ext cx="1142999" cy="2540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100" b="1">
                <a:solidFill>
                  <a:srgbClr val="86EFAC"/>
                </a:solidFill>
              </a:rPr>
              <a:t>APPROVE</a:t>
            </a:r>
          </a:p>
        </p:txBody>
      </p:sp>
      <p:sp>
        <p:nvSpPr>
          <p:cNvPr id="109" name="take"/>
          <p:cNvSpPr/>
          <p:nvPr/>
        </p:nvSpPr>
        <p:spPr>
          <a:xfrm>
            <a:off x="3301999" y="3365500"/>
            <a:ext cx="5587999" cy="3302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700" b="1">
                <a:solidFill>
                  <a:srgbClr val="F8FAFC"/>
                </a:solidFill>
              </a:rPr>
              <a:t>One clear takeaway</a:t>
            </a:r>
          </a:p>
        </p:txBody>
      </p:sp>
      <p:sp>
        <p:nvSpPr>
          <p:cNvPr id="110" name="copy"/>
          <p:cNvSpPr/>
          <p:nvPr/>
        </p:nvSpPr>
        <p:spPr>
          <a:xfrm>
            <a:off x="2095499" y="3873499"/>
            <a:ext cx="8000999" cy="761999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2100" b="1">
                <a:solidFill>
                  <a:srgbClr val="5EEAD4"/>
                </a:solidFill>
              </a:rPr>
              <a:t>Specificity + source discipline + channel-native prompting</a:t>
            </a:r>
            <a:endParaRPr lang="en-US"/>
          </a:p>
          <a:p>
            <a:pPr algn="ctr"/>
            <a:r>
              <a:rPr lang="en-US" sz="2100" b="1">
                <a:solidFill>
                  <a:srgbClr val="5EEAD4"/>
                </a:solidFill>
              </a:rPr>
              <a:t>make the output more distinguishable and more reviewable.</a:t>
            </a:r>
          </a:p>
        </p:txBody>
      </p:sp>
      <p:sp>
        <p:nvSpPr>
          <p:cNvPr id="111" name="thanks"/>
          <p:cNvSpPr/>
          <p:nvPr/>
        </p:nvSpPr>
        <p:spPr>
          <a:xfrm>
            <a:off x="5079999" y="5461000"/>
            <a:ext cx="2031999" cy="304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pPr algn="ctr"/>
            <a:r>
              <a:rPr lang="en-US" sz="1300" b="0">
                <a:solidFill>
                  <a:srgbClr val="A8B5C7"/>
                </a:solidFill>
              </a:rPr>
              <a:t>Thank you</a:t>
            </a:r>
          </a:p>
        </p:txBody>
      </p:sp>
      <p:sp>
        <p:nvSpPr>
          <p:cNvPr id="112" name="footer"/>
          <p:cNvSpPr/>
          <p:nvPr/>
        </p:nvSpPr>
        <p:spPr>
          <a:xfrm>
            <a:off x="533399" y="6413500"/>
            <a:ext cx="9651999" cy="177800"/>
          </a:xfrm>
          <a:prstGeom prst="rect">
            <a:avLst/>
          </a:prstGeom>
          <a:noFill/>
          <a:ln w="12000">
            <a:noFill/>
          </a:ln>
        </p:spPr>
        <p:txBody>
          <a:bodyPr wrap="square" anchor="t"/>
          <a:lstStyle/>
          <a:p>
            <a:r>
              <a:rPr lang="en-US" sz="800" b="0">
                <a:solidFill>
                  <a:srgbClr val="A8B5C7"/>
                </a:solidFill>
              </a:rPr>
              <a:t>AI Content Creator — Patagonia Content Studio</a:t>
            </a:r>
          </a:p>
        </p:txBody>
      </p:sp>
    </p:spTree>
  </p:cSld>
</p:sld>
</file>

<file path=ppt/theme/theme1.xml><?xml version="1.0" encoding="utf-8"?>
<a:theme xmlns:a="http://schemas.openxmlformats.org/drawingml/2006/main" name="AI Content Creator">
  <a:themeElements>
    <a:clrScheme name="Custom">
      <a:dk1>
        <a:srgbClr val="0B1220"/>
      </a:dk1>
      <a:lt1>
        <a:srgbClr val="F8FAFC"/>
      </a:lt1>
      <a:dk2>
        <a:srgbClr val="111C2E"/>
      </a:dk2>
      <a:lt2>
        <a:srgbClr val="A8B5C7"/>
      </a:lt2>
      <a:accent1>
        <a:srgbClr val="5EEAD4"/>
      </a:accent1>
      <a:accent2>
        <a:srgbClr val="60A5FA"/>
      </a:accent2>
      <a:accent3>
        <a:srgbClr val="FBBF24"/>
      </a:accent3>
      <a:accent4>
        <a:srgbClr val="FB7185"/>
      </a:accent4>
      <a:accent5>
        <a:srgbClr val="86EFAC"/>
      </a:accent5>
      <a:accent6>
        <a:srgbClr val="263650"/>
      </a:accent6>
      <a:hlink>
        <a:srgbClr val="60A5FA"/>
      </a:hlink>
      <a:folHlink>
        <a:srgbClr val="FB7185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Custom">
      <a:fillStyleLst>
        <a:solidFill>
          <a:srgbClr val="FFFFFF"/>
        </a:solidFill>
      </a:fillStyleLst>
      <a:lnStyleLst>
        <a:ln w="9525">
          <a:solidFill>
            <a:srgbClr val="FFFFFF"/>
          </a:solidFill>
        </a:ln>
      </a:lnStyleLst>
      <a:effectStyleLst>
        <a:effectStyle>
          <a:effectLst/>
        </a:effectStyle>
      </a:effectStyleLst>
      <a:bgFillStyleLst>
        <a:solidFill>
          <a:srgbClr val="0B1220"/>
        </a:solidFill>
      </a:bgFillStyleLst>
    </a:fmtScheme>
  </a:themeElements>
</a:theme>
</file>